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484631" y="274319"/>
            <a:ext cx="11192258" cy="7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200"/>
              </a:spcBef>
              <a:defRPr b="1" sz="3000">
                <a:solidFill>
                  <a:srgbClr val="1E4E8C"/>
                </a:solidFill>
              </a:defRPr>
            </a:pPr>
            <a:r>
              <a:t>Exploration vs. Exploitation</a:t>
            </a:r>
          </a:p>
          <a:p>
            <a:pPr>
              <a:defRPr i="1" sz="1600">
                <a:solidFill>
                  <a:srgbClr val="606060"/>
                </a:solidFill>
              </a:defRPr>
            </a:pPr>
            <a:r>
              <a:t>When curiosity gets stuck on noise</a:t>
            </a:r>
          </a:p>
        </p:txBody>
      </p:sp>
      <p:sp>
        <p:nvSpPr>
          <p:cNvPr id="95" name="Connector 2"/>
          <p:cNvSpPr/>
          <p:nvPr/>
        </p:nvSpPr>
        <p:spPr>
          <a:xfrm>
            <a:off x="457199" y="1143000"/>
            <a:ext cx="11274554" cy="0"/>
          </a:xfrm>
          <a:prstGeom prst="line">
            <a:avLst/>
          </a:prstGeom>
          <a:ln>
            <a:solidFill>
              <a:srgbClr val="CCCCC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" name="TextBox 3"/>
          <p:cNvSpPr txBox="1"/>
          <p:nvPr/>
        </p:nvSpPr>
        <p:spPr>
          <a:xfrm>
            <a:off x="484631" y="1280160"/>
            <a:ext cx="11192258" cy="106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400"/>
              </a:spcBef>
              <a:defRPr b="1" sz="1500">
                <a:solidFill>
                  <a:srgbClr val="1A1A1A"/>
                </a:solidFill>
              </a:defRPr>
            </a:pPr>
          </a:p>
          <a:p>
            <a:pPr>
              <a:spcBef>
                <a:spcPts val="800"/>
              </a:spcBef>
              <a:defRPr sz="1500">
                <a:solidFill>
                  <a:srgbClr val="1A1A1A"/>
                </a:solidFill>
              </a:defRPr>
            </a:pPr>
            <a:r>
              <a:t>The fundamental RL trade-off — try new actions vs. exploit the current best policy.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The sparse-reward bottleneck.  When extrinsic rewards are rare, naive exploration fails. The classical fix is intrinsic motivation — give the agent a self-generated bonus for visiting novel states.</a:t>
            </a:r>
          </a:p>
        </p:txBody>
      </p:sp>
      <p:graphicFrame>
        <p:nvGraphicFramePr>
          <p:cNvPr id="97" name="Table 4"/>
          <p:cNvGraphicFramePr/>
          <p:nvPr/>
        </p:nvGraphicFramePr>
        <p:xfrm>
          <a:off x="457200" y="2788920"/>
          <a:ext cx="11247120" cy="17830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43200"/>
                <a:gridCol w="4389120"/>
                <a:gridCol w="4114800"/>
              </a:tblGrid>
              <a:tr h="4457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Intrinsic bonus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Known issue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E4E8C"/>
                    </a:solidFill>
                  </a:tcPr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ε-greedy / Softmax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none (random)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Undirected — fails on long-horizon / sparse tasks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UCB / Thompson Sampling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uncertainty-driven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Hard to scale to deep nets without approximation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45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RND / ICM  (curiosity)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A1A"/>
                          </a:solidFill>
                        </a:rPr>
                        <a:t>dynamics-model prediction error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B72B2B"/>
                          </a:solidFill>
                        </a:rPr>
                        <a:t>Noisy-TV problem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98" name="TextBox 5"/>
          <p:cNvSpPr txBox="1"/>
          <p:nvPr/>
        </p:nvSpPr>
        <p:spPr>
          <a:xfrm>
            <a:off x="484631" y="4892040"/>
            <a:ext cx="11192258" cy="829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600"/>
              </a:spcBef>
              <a:defRPr b="1" sz="1600">
                <a:solidFill>
                  <a:srgbClr val="B72B2B"/>
                </a:solidFill>
              </a:defRPr>
            </a:pPr>
            <a:r>
              <a:t>The noisy-TV failure mode.</a:t>
            </a:r>
          </a:p>
          <a:p>
            <a:pPr>
              <a:spcBef>
                <a:spcPts val="400"/>
              </a:spcBef>
              <a:defRPr sz="1600">
                <a:solidFill>
                  <a:srgbClr val="1A1A1A"/>
                </a:solidFill>
              </a:defRPr>
            </a:pPr>
            <a:r>
              <a:t>A curiosity-driven agent placed near an inherently random source (TV static, dice, sensor noise) becomes permanently fixated — prediction error never falls, the bonus never decays, the agent never moves on.  This is the failure mode our project will study.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484631" y="274319"/>
            <a:ext cx="11192258" cy="7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200"/>
              </a:spcBef>
              <a:defRPr b="1" sz="3000">
                <a:solidFill>
                  <a:srgbClr val="1E4E8C"/>
                </a:solidFill>
              </a:defRPr>
            </a:pPr>
            <a:r>
              <a:t>Paper:  Learning Progress Monitoring (LPM)</a:t>
            </a:r>
          </a:p>
          <a:p>
            <a:pPr>
              <a:defRPr i="1" sz="1600">
                <a:solidFill>
                  <a:srgbClr val="606060"/>
                </a:solidFill>
              </a:defRPr>
            </a:pPr>
            <a:r>
              <a:t>Hou, An, Du — UC Merced — ICLR 2026 — arXiv:2509.25438</a:t>
            </a:r>
          </a:p>
        </p:txBody>
      </p:sp>
      <p:sp>
        <p:nvSpPr>
          <p:cNvPr id="101" name="Connector 2"/>
          <p:cNvSpPr/>
          <p:nvPr/>
        </p:nvSpPr>
        <p:spPr>
          <a:xfrm>
            <a:off x="457199" y="1143000"/>
            <a:ext cx="11274554" cy="0"/>
          </a:xfrm>
          <a:prstGeom prst="line">
            <a:avLst/>
          </a:prstGeom>
          <a:ln>
            <a:solidFill>
              <a:srgbClr val="CCCCC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Rectangle 3"/>
          <p:cNvSpPr/>
          <p:nvPr/>
        </p:nvSpPr>
        <p:spPr>
          <a:xfrm>
            <a:off x="457199" y="1325880"/>
            <a:ext cx="11247122" cy="2743201"/>
          </a:xfrm>
          <a:prstGeom prst="rect">
            <a:avLst/>
          </a:prstGeom>
          <a:solidFill>
            <a:srgbClr val="F2F2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4"/>
          <p:cNvSpPr txBox="1"/>
          <p:nvPr/>
        </p:nvSpPr>
        <p:spPr>
          <a:xfrm>
            <a:off x="667512" y="1417319"/>
            <a:ext cx="10826496" cy="223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1A1A1A"/>
                </a:solidFill>
              </a:defRPr>
            </a:lvl1pPr>
          </a:lstStyle>
          <a:p>
            <a:pPr/>
            <a:r>
              <a:t>Key conceptual shift — reward improvement, not prediction error: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850392" y="1965960"/>
            <a:ext cx="3328417" cy="225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400"/>
              </a:spcBef>
              <a:defRPr i="1" sz="1400">
                <a:solidFill>
                  <a:srgbClr val="606060"/>
                </a:solidFill>
              </a:defRPr>
            </a:lvl1pPr>
          </a:lstStyle>
          <a:p>
            <a:pPr/>
            <a:r>
              <a:t>Curiosity (RND, ICM):</a:t>
            </a:r>
          </a:p>
        </p:txBody>
      </p:sp>
      <p:pic>
        <p:nvPicPr>
          <p:cNvPr id="10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3359" y="1874518"/>
            <a:ext cx="4667694" cy="819418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Box 7"/>
          <p:cNvSpPr txBox="1"/>
          <p:nvPr/>
        </p:nvSpPr>
        <p:spPr>
          <a:xfrm>
            <a:off x="850392" y="3154679"/>
            <a:ext cx="3328417" cy="225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400"/>
              </a:spcBef>
              <a:defRPr b="1" i="1" sz="1400">
                <a:solidFill>
                  <a:srgbClr val="1E4E8C"/>
                </a:solidFill>
              </a:defRPr>
            </a:lvl1pPr>
          </a:lstStyle>
          <a:p>
            <a:pPr/>
            <a:r>
              <a:t>LPM (this paper):</a:t>
            </a:r>
          </a:p>
        </p:txBody>
      </p:sp>
      <p:pic>
        <p:nvPicPr>
          <p:cNvPr id="107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3359" y="3017520"/>
            <a:ext cx="4687876" cy="822960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Box 9"/>
          <p:cNvSpPr txBox="1"/>
          <p:nvPr/>
        </p:nvSpPr>
        <p:spPr>
          <a:xfrm>
            <a:off x="484631" y="4251959"/>
            <a:ext cx="11192258" cy="115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1A1A1A"/>
                </a:solidFill>
              </a:defRPr>
            </a:pPr>
            <a:r>
              <a:t>Why it escapes noisy-TVs.</a:t>
            </a:r>
          </a:p>
          <a:p>
            <a:pPr>
              <a:spcBef>
                <a:spcPts val="400"/>
              </a:spcBef>
              <a:defRPr sz="1700">
                <a:solidFill>
                  <a:srgbClr val="1A1A1A"/>
                </a:solidFill>
              </a:defRPr>
            </a:pPr>
            <a:r>
              <a:t>Unlearnable transitions never get more predictable, bonus gets 0, agent ignores the noise source.  </a:t>
            </a:r>
            <a:br/>
            <a:r>
              <a:t>Learnable transitions keep improving, positive bonus, agent explores them.</a:t>
            </a:r>
          </a:p>
          <a:p>
            <a:pPr>
              <a:spcBef>
                <a:spcPts val="400"/>
              </a:spcBef>
              <a:defRPr i="1" sz="1700">
                <a:solidFill>
                  <a:srgbClr val="1E4E8C"/>
                </a:solidFill>
              </a:defRPr>
            </a:pPr>
            <a:r>
              <a:t>The pathology is removed by changing what we reward, not by patching the symptoms.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 txBox="1"/>
          <p:nvPr/>
        </p:nvSpPr>
        <p:spPr>
          <a:xfrm>
            <a:off x="484631" y="274319"/>
            <a:ext cx="11192258" cy="781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200"/>
              </a:spcBef>
              <a:defRPr b="1" sz="3000">
                <a:solidFill>
                  <a:srgbClr val="1E4E8C"/>
                </a:solidFill>
              </a:defRPr>
            </a:pPr>
            <a:r>
              <a:t>Experimental Environments</a:t>
            </a:r>
          </a:p>
          <a:p>
            <a:pPr>
              <a:defRPr i="1" sz="1600">
                <a:solidFill>
                  <a:srgbClr val="606060"/>
                </a:solidFill>
              </a:defRPr>
            </a:pPr>
            <a:r>
              <a:t>MiniGrid (our extension)   ◆   MiniWorld (paper's main env)</a:t>
            </a:r>
          </a:p>
        </p:txBody>
      </p:sp>
      <p:sp>
        <p:nvSpPr>
          <p:cNvPr id="111" name="Connector 2"/>
          <p:cNvSpPr/>
          <p:nvPr/>
        </p:nvSpPr>
        <p:spPr>
          <a:xfrm>
            <a:off x="457199" y="1143000"/>
            <a:ext cx="11274554" cy="0"/>
          </a:xfrm>
          <a:prstGeom prst="line">
            <a:avLst/>
          </a:prstGeom>
          <a:ln>
            <a:solidFill>
              <a:srgbClr val="CCCCC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TextBox 3"/>
          <p:cNvSpPr txBox="1"/>
          <p:nvPr/>
        </p:nvSpPr>
        <p:spPr>
          <a:xfrm>
            <a:off x="484631" y="1325880"/>
            <a:ext cx="5431538" cy="255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1E4E8C"/>
                </a:solidFill>
              </a:defRPr>
            </a:lvl1pPr>
          </a:lstStyle>
          <a:p>
            <a:pPr/>
            <a:r>
              <a:t>MiniGrid  —  2D top-down gridworld</a:t>
            </a:r>
          </a:p>
        </p:txBody>
      </p:sp>
      <p:pic>
        <p:nvPicPr>
          <p:cNvPr id="11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00" y="1874518"/>
            <a:ext cx="2743200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5"/>
          <p:cNvSpPr txBox="1"/>
          <p:nvPr/>
        </p:nvSpPr>
        <p:spPr>
          <a:xfrm>
            <a:off x="484631" y="4754879"/>
            <a:ext cx="5431538" cy="17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spcBef>
                <a:spcPts val="400"/>
              </a:spcBef>
              <a:defRPr i="1" sz="1100">
                <a:solidFill>
                  <a:srgbClr val="606060"/>
                </a:solidFill>
              </a:defRPr>
            </a:lvl1pPr>
          </a:lstStyle>
          <a:p>
            <a:pPr/>
            <a:r>
              <a:t>MiniGrid-DoorKey-8x8-v0</a:t>
            </a:r>
          </a:p>
        </p:txBody>
      </p:sp>
      <p:sp>
        <p:nvSpPr>
          <p:cNvPr id="115" name="TextBox 6"/>
          <p:cNvSpPr txBox="1"/>
          <p:nvPr/>
        </p:nvSpPr>
        <p:spPr>
          <a:xfrm>
            <a:off x="484631" y="5212079"/>
            <a:ext cx="5431538" cy="492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1A"/>
                </a:solidFill>
              </a:defRPr>
            </a:pPr>
            <a:r>
              <a:t>• Symbolic obs (or 7×7 partial RGB cone)</a:t>
            </a:r>
          </a:p>
          <a:p>
            <a:pPr>
              <a:spcBef>
                <a:spcPts val="300"/>
              </a:spcBef>
              <a:defRPr sz="1400">
                <a:solidFill>
                  <a:srgbClr val="1A1A1A"/>
                </a:solidFill>
              </a:defRPr>
            </a:pPr>
            <a:r>
              <a:t>• Sparse-reward, no noise</a:t>
            </a:r>
          </a:p>
        </p:txBody>
      </p:sp>
      <p:sp>
        <p:nvSpPr>
          <p:cNvPr id="116" name="TextBox 7"/>
          <p:cNvSpPr txBox="1"/>
          <p:nvPr/>
        </p:nvSpPr>
        <p:spPr>
          <a:xfrm>
            <a:off x="6272784" y="1325880"/>
            <a:ext cx="5431537" cy="255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1E4E8C"/>
                </a:solidFill>
              </a:defRPr>
            </a:lvl1pPr>
          </a:lstStyle>
          <a:p>
            <a:pPr/>
            <a:r>
              <a:t>MiniWorld  —  3D first-person maze</a:t>
            </a:r>
          </a:p>
        </p:txBody>
      </p:sp>
      <p:pic>
        <p:nvPicPr>
          <p:cNvPr id="117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59752" y="1874518"/>
            <a:ext cx="3657601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Box 9"/>
          <p:cNvSpPr txBox="1"/>
          <p:nvPr/>
        </p:nvSpPr>
        <p:spPr>
          <a:xfrm>
            <a:off x="6272784" y="4754879"/>
            <a:ext cx="5431537" cy="17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spcBef>
                <a:spcPts val="400"/>
              </a:spcBef>
              <a:defRPr i="1" sz="1100">
                <a:solidFill>
                  <a:srgbClr val="606060"/>
                </a:solidFill>
              </a:defRPr>
            </a:lvl1pPr>
          </a:lstStyle>
          <a:p>
            <a:pPr/>
            <a:r>
              <a:t>MiniWorld-MazeS3-v0   (rendered 160×120 RGB in paper)</a:t>
            </a:r>
          </a:p>
        </p:txBody>
      </p:sp>
      <p:sp>
        <p:nvSpPr>
          <p:cNvPr id="119" name="TextBox 10"/>
          <p:cNvSpPr txBox="1"/>
          <p:nvPr/>
        </p:nvSpPr>
        <p:spPr>
          <a:xfrm>
            <a:off x="6272784" y="5212079"/>
            <a:ext cx="5431537" cy="492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1A"/>
                </a:solidFill>
              </a:defRPr>
            </a:pPr>
            <a:r>
              <a:t>• Pixel obs (RGB) — first-person camera</a:t>
            </a:r>
          </a:p>
          <a:p>
            <a:pPr>
              <a:spcBef>
                <a:spcPts val="300"/>
              </a:spcBef>
              <a:defRPr sz="1400">
                <a:solidFill>
                  <a:srgbClr val="1A1A1A"/>
                </a:solidFill>
              </a:defRPr>
            </a:pPr>
            <a:r>
              <a:t>• Paper's main env — supports noisy-wall / action-noise demos</a:t>
            </a:r>
          </a:p>
        </p:txBody>
      </p:sp>
      <p:pic>
        <p:nvPicPr>
          <p:cNvPr id="120" name="已粘贴的影片.png" descr="已粘贴的影片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44398" y="2266199"/>
            <a:ext cx="2169953" cy="18039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 txBox="1"/>
          <p:nvPr/>
        </p:nvSpPr>
        <p:spPr>
          <a:xfrm>
            <a:off x="484631" y="274319"/>
            <a:ext cx="11192258" cy="435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spcBef>
                <a:spcPts val="200"/>
              </a:spcBef>
              <a:defRPr b="1" sz="3000">
                <a:solidFill>
                  <a:srgbClr val="1E4E8C"/>
                </a:solidFill>
              </a:defRPr>
            </a:lvl1pPr>
          </a:lstStyle>
          <a:p>
            <a:pPr/>
            <a:r>
              <a:t>Project Plan</a:t>
            </a:r>
          </a:p>
        </p:txBody>
      </p:sp>
      <p:sp>
        <p:nvSpPr>
          <p:cNvPr id="123" name="Connector 2"/>
          <p:cNvSpPr/>
          <p:nvPr/>
        </p:nvSpPr>
        <p:spPr>
          <a:xfrm>
            <a:off x="457199" y="1143000"/>
            <a:ext cx="11274554" cy="0"/>
          </a:xfrm>
          <a:prstGeom prst="line">
            <a:avLst/>
          </a:prstGeom>
          <a:ln>
            <a:solidFill>
              <a:srgbClr val="CCCCC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TextBox 3"/>
          <p:cNvSpPr txBox="1"/>
          <p:nvPr/>
        </p:nvSpPr>
        <p:spPr>
          <a:xfrm>
            <a:off x="484631" y="1280160"/>
            <a:ext cx="11192258" cy="1182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600"/>
              </a:spcBef>
              <a:defRPr b="1" sz="1700">
                <a:solidFill>
                  <a:srgbClr val="1E4E8C"/>
                </a:solidFill>
              </a:defRPr>
            </a:pPr>
            <a:r>
              <a:t>Stage 1 — Reproduction</a:t>
            </a:r>
          </a:p>
          <a:p>
            <a:pPr>
              <a:spcBef>
                <a:spcPts val="200"/>
              </a:spcBef>
              <a:defRPr sz="1700">
                <a:solidFill>
                  <a:srgbClr val="1A1A1A"/>
                </a:solidFill>
              </a:defRPr>
            </a:pPr>
            <a:r>
              <a:t>• Reproduce the noisy-TV problem on previous learning algorithms.</a:t>
            </a:r>
            <a:endParaRPr b="1">
              <a:solidFill>
                <a:srgbClr val="1E4E8C"/>
              </a:solidFill>
            </a:endParaRPr>
          </a:p>
          <a:p>
            <a:pPr>
              <a:spcBef>
                <a:spcPts val="200"/>
              </a:spcBef>
              <a:defRPr sz="1700">
                <a:solidFill>
                  <a:srgbClr val="1A1A1A"/>
                </a:solidFill>
              </a:defRPr>
            </a:pPr>
            <a:r>
              <a:t>• Run LPM on Noisy-MNIST and MiniWorld 3D maze.</a:t>
            </a:r>
          </a:p>
          <a:p>
            <a:pPr>
              <a:spcBef>
                <a:spcPts val="200"/>
              </a:spcBef>
              <a:defRPr sz="1700">
                <a:solidFill>
                  <a:srgbClr val="1A1A1A"/>
                </a:solidFill>
              </a:defRPr>
            </a:pPr>
            <a:r>
              <a:t>• Match published curves within seed variance against baselines.</a:t>
            </a:r>
          </a:p>
        </p:txBody>
      </p:sp>
      <p:sp>
        <p:nvSpPr>
          <p:cNvPr id="125" name="TextBox 4"/>
          <p:cNvSpPr txBox="1"/>
          <p:nvPr/>
        </p:nvSpPr>
        <p:spPr>
          <a:xfrm>
            <a:off x="484631" y="2788920"/>
            <a:ext cx="11192258" cy="59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spcBef>
                <a:spcPts val="600"/>
              </a:spcBef>
              <a:defRPr b="1" sz="1700">
                <a:solidFill>
                  <a:srgbClr val="1E4E8C"/>
                </a:solidFill>
              </a:defRPr>
            </a:pPr>
            <a:r>
              <a:t>Stage 2 — Controlled Study</a:t>
            </a:r>
          </a:p>
          <a:p>
            <a:pPr>
              <a:spcBef>
                <a:spcPts val="200"/>
              </a:spcBef>
              <a:defRPr sz="1700">
                <a:solidFill>
                  <a:srgbClr val="1A1A1A"/>
                </a:solidFill>
              </a:defRPr>
            </a:pPr>
            <a:r>
              <a:t>1.  Extension to MiniGrid —  does LPM still help on a cleaner sparse-reward env, or is its advantage noise-specific?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