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24384000" cy="13716000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77255" autoAdjust="0"/>
  </p:normalViewPr>
  <p:slideViewPr>
    <p:cSldViewPr snapToGrid="0">
      <p:cViewPr varScale="1">
        <p:scale>
          <a:sx n="32" d="100"/>
          <a:sy n="32" d="100"/>
        </p:scale>
        <p:origin x="12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29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68508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42945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89276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23237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15258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99607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40235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248000" y="11280000"/>
            <a:ext cx="20160000" cy="864000"/>
          </a:xfrm>
        </p:spPr>
        <p:txBody>
          <a:bodyPr/>
          <a:lstStyle>
            <a:lvl1pPr marL="0" indent="0" algn="l">
              <a:lnSpc>
                <a:spcPts val="64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b="0">
                <a:solidFill>
                  <a:schemeClr val="bg2"/>
                </a:solidFill>
              </a:defRPr>
            </a:lvl1pPr>
            <a:lvl2pPr marL="0" indent="0" algn="l">
              <a:lnSpc>
                <a:spcPts val="64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b="0">
                <a:solidFill>
                  <a:schemeClr val="bg2"/>
                </a:solidFill>
              </a:defRPr>
            </a:lvl2pPr>
            <a:lvl3pPr marL="0" indent="0" algn="l">
              <a:lnSpc>
                <a:spcPts val="64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b="0">
                <a:solidFill>
                  <a:schemeClr val="bg2"/>
                </a:solidFill>
              </a:defRPr>
            </a:lvl3pPr>
            <a:lvl4pPr marL="0" indent="0" algn="l">
              <a:lnSpc>
                <a:spcPts val="64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b="0">
                <a:solidFill>
                  <a:schemeClr val="bg2"/>
                </a:solidFill>
              </a:defRPr>
            </a:lvl4pPr>
            <a:lvl5pPr marL="0" indent="0" algn="l">
              <a:lnSpc>
                <a:spcPts val="64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b="0">
                <a:solidFill>
                  <a:schemeClr val="bg2"/>
                </a:solidFill>
              </a:defRPr>
            </a:lvl5pPr>
            <a:lvl6pPr marL="0" indent="0" algn="l">
              <a:lnSpc>
                <a:spcPts val="64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b="0">
                <a:solidFill>
                  <a:schemeClr val="bg2"/>
                </a:solidFill>
              </a:defRPr>
            </a:lvl6pPr>
            <a:lvl7pPr marL="0" indent="0" algn="l">
              <a:lnSpc>
                <a:spcPts val="64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b="0">
                <a:solidFill>
                  <a:schemeClr val="bg2"/>
                </a:solidFill>
              </a:defRPr>
            </a:lvl7pPr>
            <a:lvl8pPr marL="0" indent="0" algn="l">
              <a:lnSpc>
                <a:spcPts val="64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b="0">
                <a:solidFill>
                  <a:schemeClr val="bg2"/>
                </a:solidFill>
              </a:defRPr>
            </a:lvl8pPr>
            <a:lvl9pPr marL="0" indent="0" algn="l">
              <a:lnSpc>
                <a:spcPts val="64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1248000" y="12480000"/>
            <a:ext cx="20160000" cy="384000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0D81F06-1D47-4C44-8C29-89662B0E1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000" y="9331200"/>
            <a:ext cx="6681600" cy="463728"/>
          </a:xfrm>
          <a:prstGeom prst="rect">
            <a:avLst/>
          </a:prstGeom>
        </p:spPr>
      </p:pic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84C7B36F-18FD-48F5-9A0D-FC40AEE68D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3" y="-3"/>
            <a:ext cx="21820800" cy="8496000"/>
          </a:xfrm>
          <a:custGeom>
            <a:avLst/>
            <a:gdLst>
              <a:gd name="connsiteX0" fmla="*/ 0 w 8182800"/>
              <a:gd name="connsiteY0" fmla="*/ 0 h 3186000"/>
              <a:gd name="connsiteX1" fmla="*/ 8182800 w 8182800"/>
              <a:gd name="connsiteY1" fmla="*/ 0 h 3186000"/>
              <a:gd name="connsiteX2" fmla="*/ 8182800 w 8182800"/>
              <a:gd name="connsiteY2" fmla="*/ 1 h 3186000"/>
              <a:gd name="connsiteX3" fmla="*/ 7225201 w 8182800"/>
              <a:gd name="connsiteY3" fmla="*/ 1 h 3186000"/>
              <a:gd name="connsiteX4" fmla="*/ 7225201 w 8182800"/>
              <a:gd name="connsiteY4" fmla="*/ 1440001 h 3186000"/>
              <a:gd name="connsiteX5" fmla="*/ 8182800 w 8182800"/>
              <a:gd name="connsiteY5" fmla="*/ 1440001 h 3186000"/>
              <a:gd name="connsiteX6" fmla="*/ 8182800 w 8182800"/>
              <a:gd name="connsiteY6" fmla="*/ 3186000 h 3186000"/>
              <a:gd name="connsiteX7" fmla="*/ 0 w 8182800"/>
              <a:gd name="connsiteY7" fmla="*/ 3186000 h 31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82800" h="3186000">
                <a:moveTo>
                  <a:pt x="0" y="0"/>
                </a:moveTo>
                <a:lnTo>
                  <a:pt x="8182800" y="0"/>
                </a:lnTo>
                <a:lnTo>
                  <a:pt x="8182800" y="1"/>
                </a:lnTo>
                <a:lnTo>
                  <a:pt x="7225201" y="1"/>
                </a:lnTo>
                <a:lnTo>
                  <a:pt x="7225201" y="1440001"/>
                </a:lnTo>
                <a:lnTo>
                  <a:pt x="8182800" y="1440001"/>
                </a:lnTo>
                <a:lnTo>
                  <a:pt x="8182800" y="3186000"/>
                </a:lnTo>
                <a:lnTo>
                  <a:pt x="0" y="318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C28E9FB3-DC3C-4E55-9877-2DEEAAB32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7200" y="0"/>
            <a:ext cx="3840965" cy="3840000"/>
          </a:xfrm>
          <a:prstGeom prst="rect">
            <a:avLst/>
          </a:prstGeom>
        </p:spPr>
      </p:pic>
      <p:sp>
        <p:nvSpPr>
          <p:cNvPr id="23" name="Titel 22">
            <a:extLst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000" y="10387200"/>
            <a:ext cx="9407829" cy="864000"/>
          </a:xfrm>
        </p:spPr>
        <p:txBody>
          <a:bodyPr/>
          <a:lstStyle>
            <a:lvl1pPr>
              <a:lnSpc>
                <a:spcPts val="6667"/>
              </a:lnSpc>
              <a:defRPr cap="all" baseline="0"/>
            </a:lvl1pPr>
          </a:lstStyle>
          <a:p>
            <a:pPr lvl="0"/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A11C8C5-D6EB-4C5D-9539-1ADEFC0908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139197" y="10387200"/>
            <a:ext cx="6681600" cy="864000"/>
          </a:xfrm>
        </p:spPr>
        <p:txBody>
          <a:bodyPr anchor="ctr" anchorCtr="0"/>
          <a:lstStyle>
            <a:lvl1pPr algn="ctr">
              <a:defRPr sz="2800"/>
            </a:lvl1pPr>
          </a:lstStyle>
          <a:p>
            <a:r>
              <a:rPr lang="de-DE" dirty="0"/>
              <a:t>Logo auf Platzhalter ziehen</a:t>
            </a:r>
          </a:p>
        </p:txBody>
      </p:sp>
    </p:spTree>
    <p:extLst>
      <p:ext uri="{BB962C8B-B14F-4D97-AF65-F5344CB8AC3E}">
        <p14:creationId xmlns:p14="http://schemas.microsoft.com/office/powerpoint/2010/main" val="256197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EL HERVORHEBUNG MIT VIEL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/>
        </p:nvSpPr>
        <p:spPr>
          <a:xfrm>
            <a:off x="0" y="0"/>
            <a:ext cx="24384000" cy="1372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3840" tIns="121920" rIns="243840" bIns="1219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8000" y="2016000"/>
            <a:ext cx="21792000" cy="1920000"/>
          </a:xfrm>
        </p:spPr>
        <p:txBody>
          <a:bodyPr/>
          <a:lstStyle>
            <a:lvl1pPr>
              <a:lnSpc>
                <a:spcPts val="15200"/>
              </a:lnSpc>
              <a:defRPr sz="12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8000" y="3937177"/>
            <a:ext cx="21792000" cy="3839635"/>
          </a:xfrm>
        </p:spPr>
        <p:txBody>
          <a:bodyPr/>
          <a:lstStyle>
            <a:lvl1pPr>
              <a:lnSpc>
                <a:spcPts val="15200"/>
              </a:lnSpc>
              <a:defRPr sz="12800" b="1">
                <a:solidFill>
                  <a:schemeClr val="bg1"/>
                </a:solidFill>
              </a:defRPr>
            </a:lvl1pPr>
            <a:lvl2pPr>
              <a:lnSpc>
                <a:spcPts val="15200"/>
              </a:lnSpc>
              <a:defRPr sz="12800" b="1">
                <a:solidFill>
                  <a:schemeClr val="bg1"/>
                </a:solidFill>
              </a:defRPr>
            </a:lvl2pPr>
            <a:lvl3pPr>
              <a:lnSpc>
                <a:spcPts val="15200"/>
              </a:lnSpc>
              <a:defRPr sz="12800" b="1">
                <a:solidFill>
                  <a:schemeClr val="bg1"/>
                </a:solidFill>
              </a:defRPr>
            </a:lvl3pPr>
            <a:lvl4pPr>
              <a:lnSpc>
                <a:spcPts val="15200"/>
              </a:lnSpc>
              <a:defRPr sz="12800" b="1">
                <a:solidFill>
                  <a:schemeClr val="bg1"/>
                </a:solidFill>
              </a:defRPr>
            </a:lvl4pPr>
            <a:lvl5pPr>
              <a:lnSpc>
                <a:spcPts val="15200"/>
              </a:lnSpc>
              <a:defRPr sz="12800" b="1">
                <a:solidFill>
                  <a:schemeClr val="bg1"/>
                </a:solidFill>
              </a:defRPr>
            </a:lvl5pPr>
            <a:lvl6pPr>
              <a:lnSpc>
                <a:spcPts val="15200"/>
              </a:lnSpc>
              <a:defRPr sz="12800" b="1">
                <a:solidFill>
                  <a:schemeClr val="bg1"/>
                </a:solidFill>
              </a:defRPr>
            </a:lvl6pPr>
            <a:lvl7pPr>
              <a:lnSpc>
                <a:spcPts val="15200"/>
              </a:lnSpc>
              <a:defRPr sz="12800" b="1">
                <a:solidFill>
                  <a:schemeClr val="bg1"/>
                </a:solidFill>
              </a:defRPr>
            </a:lvl7pPr>
            <a:lvl8pPr>
              <a:lnSpc>
                <a:spcPts val="15200"/>
              </a:lnSpc>
              <a:defRPr sz="12800" b="1">
                <a:solidFill>
                  <a:schemeClr val="bg1"/>
                </a:solidFill>
              </a:defRPr>
            </a:lvl8pPr>
            <a:lvl9pPr>
              <a:lnSpc>
                <a:spcPts val="15200"/>
              </a:lnSpc>
              <a:defRPr sz="12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</p:txBody>
      </p:sp>
    </p:spTree>
    <p:extLst>
      <p:ext uri="{BB962C8B-B14F-4D97-AF65-F5344CB8AC3E}">
        <p14:creationId xmlns:p14="http://schemas.microsoft.com/office/powerpoint/2010/main" val="3694940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EL HERVORHEBUNG MIT VIEL INH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/>
        </p:nvSpPr>
        <p:spPr>
          <a:xfrm>
            <a:off x="0" y="0"/>
            <a:ext cx="24384000" cy="1372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3840" tIns="121920" rIns="243840" bIns="1219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8000" y="2208000"/>
            <a:ext cx="21792000" cy="1440000"/>
          </a:xfrm>
        </p:spPr>
        <p:txBody>
          <a:bodyPr/>
          <a:lstStyle>
            <a:lvl1pPr>
              <a:lnSpc>
                <a:spcPts val="11733"/>
              </a:lnSpc>
              <a:defRPr sz="9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8000" y="3647997"/>
            <a:ext cx="21792000" cy="7776000"/>
          </a:xfrm>
        </p:spPr>
        <p:txBody>
          <a:bodyPr/>
          <a:lstStyle>
            <a:lvl1pPr>
              <a:lnSpc>
                <a:spcPts val="11733"/>
              </a:lnSpc>
              <a:spcAft>
                <a:spcPts val="0"/>
              </a:spcAft>
              <a:defRPr sz="9600" b="0">
                <a:solidFill>
                  <a:schemeClr val="bg1"/>
                </a:solidFill>
              </a:defRPr>
            </a:lvl1pPr>
            <a:lvl2pPr>
              <a:lnSpc>
                <a:spcPts val="11733"/>
              </a:lnSpc>
              <a:defRPr sz="9600" b="0">
                <a:solidFill>
                  <a:schemeClr val="bg1"/>
                </a:solidFill>
              </a:defRPr>
            </a:lvl2pPr>
            <a:lvl3pPr>
              <a:lnSpc>
                <a:spcPts val="11733"/>
              </a:lnSpc>
              <a:defRPr sz="9600" b="0">
                <a:solidFill>
                  <a:schemeClr val="bg1"/>
                </a:solidFill>
              </a:defRPr>
            </a:lvl3pPr>
            <a:lvl4pPr>
              <a:lnSpc>
                <a:spcPts val="11733"/>
              </a:lnSpc>
              <a:defRPr sz="9600" b="0">
                <a:solidFill>
                  <a:schemeClr val="bg1"/>
                </a:solidFill>
              </a:defRPr>
            </a:lvl4pPr>
            <a:lvl5pPr>
              <a:lnSpc>
                <a:spcPts val="11733"/>
              </a:lnSpc>
              <a:defRPr sz="9600" b="0">
                <a:solidFill>
                  <a:schemeClr val="bg1"/>
                </a:solidFill>
              </a:defRPr>
            </a:lvl5pPr>
            <a:lvl6pPr>
              <a:lnSpc>
                <a:spcPts val="11733"/>
              </a:lnSpc>
              <a:defRPr sz="9600" b="0">
                <a:solidFill>
                  <a:schemeClr val="bg1"/>
                </a:solidFill>
              </a:defRPr>
            </a:lvl6pPr>
            <a:lvl7pPr>
              <a:lnSpc>
                <a:spcPts val="11733"/>
              </a:lnSpc>
              <a:defRPr sz="9600" b="0">
                <a:solidFill>
                  <a:schemeClr val="bg1"/>
                </a:solidFill>
              </a:defRPr>
            </a:lvl7pPr>
            <a:lvl8pPr>
              <a:lnSpc>
                <a:spcPts val="11733"/>
              </a:lnSpc>
              <a:defRPr sz="9600" b="0">
                <a:solidFill>
                  <a:schemeClr val="bg1"/>
                </a:solidFill>
              </a:defRPr>
            </a:lvl8pPr>
            <a:lvl9pPr>
              <a:lnSpc>
                <a:spcPts val="11733"/>
              </a:lnSpc>
              <a:defRPr sz="9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62117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defTabSz="624008">
              <a:tabLst>
                <a:tab pos="624008" algn="l"/>
              </a:tabLst>
              <a:defRPr/>
            </a:lvl2pPr>
            <a:lvl3pPr defTabSz="624008">
              <a:tabLst>
                <a:tab pos="624008" algn="l"/>
              </a:tabLst>
              <a:defRPr/>
            </a:lvl3pPr>
            <a:lvl4pPr defTabSz="624008">
              <a:tabLst>
                <a:tab pos="624008" algn="l"/>
              </a:tabLst>
              <a:defRPr/>
            </a:lvl4pPr>
            <a:lvl5pPr defTabSz="624008">
              <a:tabLst>
                <a:tab pos="624008" algn="l"/>
              </a:tabLst>
              <a:defRPr/>
            </a:lvl5pPr>
            <a:lvl6pPr marL="0" indent="0" defTabSz="624008">
              <a:buFont typeface="+mj-lt"/>
              <a:buNone/>
              <a:tabLst>
                <a:tab pos="624008" algn="l"/>
              </a:tabLst>
              <a:defRPr/>
            </a:lvl6pPr>
            <a:lvl7pPr defTabSz="624008">
              <a:tabLst>
                <a:tab pos="624008" algn="l"/>
              </a:tabLst>
              <a:defRPr/>
            </a:lvl7pPr>
            <a:lvl8pPr defTabSz="624008">
              <a:tabLst>
                <a:tab pos="624008" algn="l"/>
              </a:tabLst>
              <a:defRPr/>
            </a:lvl8pPr>
            <a:lvl9pPr defTabSz="624008">
              <a:tabLst>
                <a:tab pos="624008" algn="l"/>
              </a:tabLst>
              <a:defRPr/>
            </a:lvl9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836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line //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48000" y="2448000"/>
            <a:ext cx="21792000" cy="897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table</a:t>
            </a:r>
            <a:endParaRPr lang="de-DE" dirty="0"/>
          </a:p>
        </p:txBody>
      </p:sp>
      <p:grpSp>
        <p:nvGrpSpPr>
          <p:cNvPr id="6" name="Regieanweisungen">
            <a:extLst>
              <a:ext uri="{FF2B5EF4-FFF2-40B4-BE49-F238E27FC236}">
                <a16:creationId xmlns:a16="http://schemas.microsoft.com/office/drawing/2014/main" id="{20CE116F-C667-495A-B654-8B72C3A079E7}"/>
              </a:ext>
            </a:extLst>
          </p:cNvPr>
          <p:cNvGrpSpPr/>
          <p:nvPr/>
        </p:nvGrpSpPr>
        <p:grpSpPr>
          <a:xfrm>
            <a:off x="-7010134" y="-1247999"/>
            <a:ext cx="39556395" cy="16223997"/>
            <a:chOff x="-2628800" y="-468000"/>
            <a:chExt cx="14833648" cy="6083999"/>
          </a:xfrm>
        </p:grpSpPr>
        <p:sp>
          <p:nvSpPr>
            <p:cNvPr id="16" name="Listenebenen">
              <a:extLst>
                <a:ext uri="{FF2B5EF4-FFF2-40B4-BE49-F238E27FC236}">
                  <a16:creationId xmlns:a16="http://schemas.microsoft.com/office/drawing/2014/main" id="{84A0104B-AA90-4DE7-ADAE-6959FBC15DB1}"/>
                </a:ext>
              </a:extLst>
            </p:cNvPr>
            <p:cNvSpPr txBox="1"/>
            <p:nvPr userDrawn="1"/>
          </p:nvSpPr>
          <p:spPr>
            <a:xfrm rot="10800000" flipH="1" flipV="1">
              <a:off x="-2628800" y="1368000"/>
              <a:ext cx="2520800" cy="152778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415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3200" b="0" baseline="0" dirty="0">
                  <a:solidFill>
                    <a:schemeClr val="tx1"/>
                  </a:solidFill>
                  <a:latin typeface="+mn-lt"/>
                </a:rPr>
                <a:t>Einfärbung einer Spalte/Zeile: </a:t>
              </a:r>
              <a:br>
                <a:rPr lang="de-DE" sz="3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3200" b="1" baseline="0" dirty="0">
                  <a:solidFill>
                    <a:schemeClr val="tx1"/>
                  </a:solidFill>
                  <a:latin typeface="+mn-lt"/>
                </a:rPr>
                <a:t>Markieren der Spalte/Zeile:</a:t>
              </a:r>
            </a:p>
            <a:p>
              <a:pPr marL="0" marR="0" lvl="0" indent="0" algn="r" defTabSz="2415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3200" b="1" baseline="0" dirty="0">
                  <a:solidFill>
                    <a:schemeClr val="tx1"/>
                  </a:solidFill>
                  <a:latin typeface="+mn-lt"/>
                </a:rPr>
                <a:t> Entwurf / Tabellentools &gt; Schattierung &gt;</a:t>
              </a:r>
            </a:p>
            <a:p>
              <a:pPr marL="0" marR="0" lvl="0" indent="0" algn="r" defTabSz="2415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3200" b="1" baseline="0" dirty="0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r" defTabSz="2415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3200" b="1" baseline="0" dirty="0">
                  <a:solidFill>
                    <a:schemeClr val="tx1"/>
                  </a:solidFill>
                  <a:latin typeface="+mn-lt"/>
                </a:rPr>
                <a:t>Die gewünschte Farbe aus den Designfarben auswählen</a:t>
              </a:r>
            </a:p>
          </p:txBody>
        </p:sp>
        <p:sp>
          <p:nvSpPr>
            <p:cNvPr id="10" name="Zurücksetzen">
              <a:extLst>
                <a:ext uri="{FF2B5EF4-FFF2-40B4-BE49-F238E27FC236}">
                  <a16:creationId xmlns:a16="http://schemas.microsoft.com/office/drawing/2014/main" id="{431D1FFE-03BA-4520-A89B-CDD1BC7E4751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3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3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3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38EA8585-E11F-4D10-9DAB-78E6756B2D63}"/>
                </a:ext>
              </a:extLst>
            </p:cNvPr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7558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Löschen einer Spalte/Zeile: </a:t>
              </a:r>
              <a:r>
                <a:rPr kumimoji="0" lang="de-DE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Markieren der Spalte/Zeile: Layout &gt; Löschen &gt; Spalte bzw. Zeile löschen</a:t>
              </a:r>
            </a:p>
          </p:txBody>
        </p:sp>
        <p:sp>
          <p:nvSpPr>
            <p:cNvPr id="12" name="Fußzeile">
              <a:extLst>
                <a:ext uri="{FF2B5EF4-FFF2-40B4-BE49-F238E27FC236}">
                  <a16:creationId xmlns:a16="http://schemas.microsoft.com/office/drawing/2014/main" id="{4EFB3271-7B15-42ED-A704-B39FAEDC1436}"/>
                </a:ext>
              </a:extLst>
            </p:cNvPr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7558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3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3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6BCDAEA0-53BC-4E57-84CA-5C530F05A90E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2283786"/>
              <a:ext cx="2952848" cy="104404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3200" b="0" baseline="0" dirty="0">
                  <a:solidFill>
                    <a:schemeClr val="tx1"/>
                  </a:solidFill>
                  <a:latin typeface="+mn-lt"/>
                </a:rPr>
                <a:t>Einfügen einer Spalte/Zeile: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3200" b="1" baseline="0" dirty="0">
                  <a:solidFill>
                    <a:schemeClr val="tx1"/>
                  </a:solidFill>
                  <a:latin typeface="+mn-lt"/>
                </a:rPr>
                <a:t>Markieren der Spalte/Zeile neben der eine weitere eingefügt werden soll: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3200" b="1" baseline="0" dirty="0">
                  <a:solidFill>
                    <a:schemeClr val="tx1"/>
                  </a:solidFill>
                  <a:latin typeface="+mn-lt"/>
                </a:rPr>
                <a:t>Layout &gt; Hier die gewünschte Einfügeoption auswählen</a:t>
              </a:r>
            </a:p>
          </p:txBody>
        </p: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573989D-8FFD-4555-AAB7-592C2CE3AC9F}"/>
              </a:ext>
            </a:extLst>
          </p:cNvPr>
          <p:cNvCxnSpPr/>
          <p:nvPr/>
        </p:nvCxnSpPr>
        <p:spPr>
          <a:xfrm>
            <a:off x="0" y="11961600"/>
            <a:ext cx="2438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F3269418-AEC9-43D6-9A0C-41CA02546B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13"/>
          <a:stretch/>
        </p:blipFill>
        <p:spPr>
          <a:xfrm>
            <a:off x="24672001" y="8874062"/>
            <a:ext cx="5512568" cy="230442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81CC49D-33BF-49DC-B533-86BE2EB4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8000" y="12479040"/>
            <a:ext cx="4032000" cy="76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7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24384000" cy="13728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Vollbild durch klicken einfügen.</a:t>
            </a:r>
          </a:p>
        </p:txBody>
      </p:sp>
    </p:spTree>
    <p:extLst>
      <p:ext uri="{BB962C8B-B14F-4D97-AF65-F5344CB8AC3E}">
        <p14:creationId xmlns:p14="http://schemas.microsoft.com/office/powerpoint/2010/main" val="37624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472000" y="1248000"/>
            <a:ext cx="13440000" cy="897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1997" y="10540800"/>
            <a:ext cx="13440000" cy="864000"/>
          </a:xfrm>
        </p:spPr>
        <p:txBody>
          <a:bodyPr/>
          <a:lstStyle>
            <a:lvl1pPr>
              <a:lnSpc>
                <a:spcPts val="3200"/>
              </a:lnSpc>
              <a:spcAft>
                <a:spcPts val="0"/>
              </a:spcAft>
              <a:defRPr sz="2400"/>
            </a:lvl1pPr>
            <a:lvl2pPr>
              <a:lnSpc>
                <a:spcPts val="3200"/>
              </a:lnSpc>
              <a:spcAft>
                <a:spcPts val="0"/>
              </a:spcAft>
              <a:defRPr sz="2400"/>
            </a:lvl2pPr>
            <a:lvl3pPr>
              <a:lnSpc>
                <a:spcPts val="3200"/>
              </a:lnSpc>
              <a:spcAft>
                <a:spcPts val="0"/>
              </a:spcAft>
              <a:defRPr sz="2400"/>
            </a:lvl3pPr>
            <a:lvl4pPr>
              <a:lnSpc>
                <a:spcPts val="3200"/>
              </a:lnSpc>
              <a:spcAft>
                <a:spcPts val="0"/>
              </a:spcAft>
              <a:defRPr sz="2400"/>
            </a:lvl4pPr>
            <a:lvl5pPr>
              <a:lnSpc>
                <a:spcPts val="3200"/>
              </a:lnSpc>
              <a:spcAft>
                <a:spcPts val="0"/>
              </a:spcAft>
              <a:defRPr sz="2400"/>
            </a:lvl5pPr>
            <a:lvl6pPr>
              <a:lnSpc>
                <a:spcPts val="3200"/>
              </a:lnSpc>
              <a:spcAft>
                <a:spcPts val="0"/>
              </a:spcAft>
              <a:defRPr sz="2400"/>
            </a:lvl6pPr>
            <a:lvl7pPr>
              <a:lnSpc>
                <a:spcPts val="3200"/>
              </a:lnSpc>
              <a:spcAft>
                <a:spcPts val="0"/>
              </a:spcAft>
              <a:defRPr sz="2400"/>
            </a:lvl7pPr>
            <a:lvl8pPr>
              <a:lnSpc>
                <a:spcPts val="3200"/>
              </a:lnSpc>
              <a:spcAft>
                <a:spcPts val="0"/>
              </a:spcAft>
              <a:defRPr sz="2400"/>
            </a:lvl8pPr>
            <a:lvl9pPr>
              <a:lnSpc>
                <a:spcPts val="3200"/>
              </a:lnSpc>
              <a:spcAft>
                <a:spcPts val="0"/>
              </a:spcAft>
              <a:defRPr sz="24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246496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92">
          <p15:clr>
            <a:srgbClr val="FBAE40"/>
          </p15:clr>
        </p15:guide>
        <p15:guide id="2" pos="4468">
          <p15:clr>
            <a:srgbClr val="FBAE40"/>
          </p15:clr>
        </p15:guide>
        <p15:guide id="3" orient="horz" pos="291">
          <p15:clr>
            <a:srgbClr val="FBAE40"/>
          </p15:clr>
        </p15:guide>
        <p15:guide id="4" orient="horz" pos="241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8000" y="1248000"/>
            <a:ext cx="10560000" cy="705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8000" y="8640000"/>
            <a:ext cx="10560000" cy="2784000"/>
          </a:xfrm>
        </p:spPr>
        <p:txBody>
          <a:bodyPr/>
          <a:lstStyle>
            <a:lvl1pPr>
              <a:lnSpc>
                <a:spcPts val="3200"/>
              </a:lnSpc>
              <a:spcAft>
                <a:spcPts val="0"/>
              </a:spcAft>
              <a:defRPr sz="2400"/>
            </a:lvl1pPr>
            <a:lvl2pPr>
              <a:lnSpc>
                <a:spcPts val="3200"/>
              </a:lnSpc>
              <a:spcAft>
                <a:spcPts val="0"/>
              </a:spcAft>
              <a:defRPr sz="2400"/>
            </a:lvl2pPr>
            <a:lvl3pPr>
              <a:lnSpc>
                <a:spcPts val="3200"/>
              </a:lnSpc>
              <a:spcAft>
                <a:spcPts val="0"/>
              </a:spcAft>
              <a:defRPr sz="2400"/>
            </a:lvl3pPr>
            <a:lvl4pPr>
              <a:lnSpc>
                <a:spcPts val="3200"/>
              </a:lnSpc>
              <a:spcAft>
                <a:spcPts val="0"/>
              </a:spcAft>
              <a:defRPr sz="2400"/>
            </a:lvl4pPr>
            <a:lvl5pPr>
              <a:lnSpc>
                <a:spcPts val="3200"/>
              </a:lnSpc>
              <a:spcAft>
                <a:spcPts val="0"/>
              </a:spcAft>
              <a:defRPr sz="2400"/>
            </a:lvl5pPr>
            <a:lvl6pPr>
              <a:lnSpc>
                <a:spcPts val="3200"/>
              </a:lnSpc>
              <a:spcAft>
                <a:spcPts val="0"/>
              </a:spcAft>
              <a:defRPr sz="2400"/>
            </a:lvl6pPr>
            <a:lvl7pPr>
              <a:lnSpc>
                <a:spcPts val="3200"/>
              </a:lnSpc>
              <a:spcAft>
                <a:spcPts val="0"/>
              </a:spcAft>
              <a:defRPr sz="2400"/>
            </a:lvl7pPr>
            <a:lvl8pPr>
              <a:lnSpc>
                <a:spcPts val="3200"/>
              </a:lnSpc>
              <a:spcAft>
                <a:spcPts val="0"/>
              </a:spcAft>
              <a:defRPr sz="2400"/>
            </a:lvl8pPr>
            <a:lvl9pPr>
              <a:lnSpc>
                <a:spcPts val="3200"/>
              </a:lnSpc>
              <a:spcAft>
                <a:spcPts val="0"/>
              </a:spcAft>
              <a:defRPr sz="24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80000" y="1248000"/>
            <a:ext cx="10560000" cy="705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80000" y="8640000"/>
            <a:ext cx="10560000" cy="2784000"/>
          </a:xfrm>
        </p:spPr>
        <p:txBody>
          <a:bodyPr/>
          <a:lstStyle>
            <a:lvl1pPr>
              <a:lnSpc>
                <a:spcPts val="3200"/>
              </a:lnSpc>
              <a:spcAft>
                <a:spcPts val="0"/>
              </a:spcAft>
              <a:defRPr sz="2400"/>
            </a:lvl1pPr>
            <a:lvl2pPr>
              <a:lnSpc>
                <a:spcPts val="3200"/>
              </a:lnSpc>
              <a:spcAft>
                <a:spcPts val="0"/>
              </a:spcAft>
              <a:defRPr sz="2400"/>
            </a:lvl2pPr>
            <a:lvl3pPr>
              <a:lnSpc>
                <a:spcPts val="3200"/>
              </a:lnSpc>
              <a:spcAft>
                <a:spcPts val="0"/>
              </a:spcAft>
              <a:defRPr sz="2400"/>
            </a:lvl3pPr>
            <a:lvl4pPr>
              <a:lnSpc>
                <a:spcPts val="3200"/>
              </a:lnSpc>
              <a:spcAft>
                <a:spcPts val="0"/>
              </a:spcAft>
              <a:defRPr sz="2400"/>
            </a:lvl4pPr>
            <a:lvl5pPr>
              <a:lnSpc>
                <a:spcPts val="3200"/>
              </a:lnSpc>
              <a:spcAft>
                <a:spcPts val="0"/>
              </a:spcAft>
              <a:defRPr sz="2400"/>
            </a:lvl5pPr>
            <a:lvl6pPr>
              <a:lnSpc>
                <a:spcPts val="3200"/>
              </a:lnSpc>
              <a:spcAft>
                <a:spcPts val="0"/>
              </a:spcAft>
              <a:defRPr sz="2400"/>
            </a:lvl6pPr>
            <a:lvl7pPr>
              <a:lnSpc>
                <a:spcPts val="3200"/>
              </a:lnSpc>
              <a:spcAft>
                <a:spcPts val="0"/>
              </a:spcAft>
              <a:defRPr sz="2400"/>
            </a:lvl7pPr>
            <a:lvl8pPr>
              <a:lnSpc>
                <a:spcPts val="3200"/>
              </a:lnSpc>
              <a:spcAft>
                <a:spcPts val="0"/>
              </a:spcAft>
              <a:defRPr sz="2400"/>
            </a:lvl8pPr>
            <a:lvl9pPr>
              <a:lnSpc>
                <a:spcPts val="3200"/>
              </a:lnSpc>
              <a:spcAft>
                <a:spcPts val="0"/>
              </a:spcAft>
              <a:defRPr sz="24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312945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2" pos="5443">
          <p15:clr>
            <a:srgbClr val="FBAE40"/>
          </p15:clr>
        </p15:guide>
        <p15:guide id="3" orient="horz" pos="291">
          <p15:clr>
            <a:srgbClr val="FBAE40"/>
          </p15:clr>
        </p15:guide>
        <p15:guide id="4" orient="horz" pos="1963">
          <p15:clr>
            <a:srgbClr val="FBAE40"/>
          </p15:clr>
        </p15:guide>
        <p15:guide id="5" pos="279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Bilder inkl.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8000" y="2544000"/>
            <a:ext cx="10560000" cy="705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8000" y="9888000"/>
            <a:ext cx="10560000" cy="1536000"/>
          </a:xfrm>
        </p:spPr>
        <p:txBody>
          <a:bodyPr/>
          <a:lstStyle>
            <a:lvl1pPr>
              <a:lnSpc>
                <a:spcPts val="3200"/>
              </a:lnSpc>
              <a:spcAft>
                <a:spcPts val="0"/>
              </a:spcAft>
              <a:defRPr sz="2400"/>
            </a:lvl1pPr>
            <a:lvl2pPr>
              <a:lnSpc>
                <a:spcPts val="3200"/>
              </a:lnSpc>
              <a:spcAft>
                <a:spcPts val="0"/>
              </a:spcAft>
              <a:defRPr sz="2400"/>
            </a:lvl2pPr>
            <a:lvl3pPr>
              <a:lnSpc>
                <a:spcPts val="3200"/>
              </a:lnSpc>
              <a:spcAft>
                <a:spcPts val="0"/>
              </a:spcAft>
              <a:defRPr sz="2400"/>
            </a:lvl3pPr>
            <a:lvl4pPr>
              <a:lnSpc>
                <a:spcPts val="3200"/>
              </a:lnSpc>
              <a:spcAft>
                <a:spcPts val="0"/>
              </a:spcAft>
              <a:defRPr sz="2400"/>
            </a:lvl4pPr>
            <a:lvl5pPr>
              <a:lnSpc>
                <a:spcPts val="3200"/>
              </a:lnSpc>
              <a:spcAft>
                <a:spcPts val="0"/>
              </a:spcAft>
              <a:defRPr sz="2400"/>
            </a:lvl5pPr>
            <a:lvl6pPr>
              <a:lnSpc>
                <a:spcPts val="3200"/>
              </a:lnSpc>
              <a:spcAft>
                <a:spcPts val="0"/>
              </a:spcAft>
              <a:defRPr sz="2400"/>
            </a:lvl6pPr>
            <a:lvl7pPr>
              <a:lnSpc>
                <a:spcPts val="3200"/>
              </a:lnSpc>
              <a:spcAft>
                <a:spcPts val="0"/>
              </a:spcAft>
              <a:defRPr sz="2400"/>
            </a:lvl7pPr>
            <a:lvl8pPr>
              <a:lnSpc>
                <a:spcPts val="3200"/>
              </a:lnSpc>
              <a:spcAft>
                <a:spcPts val="0"/>
              </a:spcAft>
              <a:defRPr sz="2400"/>
            </a:lvl8pPr>
            <a:lvl9pPr>
              <a:lnSpc>
                <a:spcPts val="3200"/>
              </a:lnSpc>
              <a:spcAft>
                <a:spcPts val="0"/>
              </a:spcAft>
              <a:defRPr sz="24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80000" y="2544000"/>
            <a:ext cx="10560000" cy="705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80000" y="9888000"/>
            <a:ext cx="10560000" cy="1536000"/>
          </a:xfrm>
        </p:spPr>
        <p:txBody>
          <a:bodyPr/>
          <a:lstStyle>
            <a:lvl1pPr>
              <a:lnSpc>
                <a:spcPts val="3200"/>
              </a:lnSpc>
              <a:spcAft>
                <a:spcPts val="0"/>
              </a:spcAft>
              <a:defRPr sz="2400"/>
            </a:lvl1pPr>
            <a:lvl2pPr>
              <a:lnSpc>
                <a:spcPts val="3200"/>
              </a:lnSpc>
              <a:spcAft>
                <a:spcPts val="0"/>
              </a:spcAft>
              <a:defRPr sz="2400"/>
            </a:lvl2pPr>
            <a:lvl3pPr>
              <a:lnSpc>
                <a:spcPts val="3200"/>
              </a:lnSpc>
              <a:spcAft>
                <a:spcPts val="0"/>
              </a:spcAft>
              <a:defRPr sz="2400"/>
            </a:lvl3pPr>
            <a:lvl4pPr>
              <a:lnSpc>
                <a:spcPts val="3200"/>
              </a:lnSpc>
              <a:spcAft>
                <a:spcPts val="0"/>
              </a:spcAft>
              <a:defRPr sz="2400"/>
            </a:lvl4pPr>
            <a:lvl5pPr>
              <a:lnSpc>
                <a:spcPts val="3200"/>
              </a:lnSpc>
              <a:spcAft>
                <a:spcPts val="0"/>
              </a:spcAft>
              <a:defRPr sz="2400"/>
            </a:lvl5pPr>
            <a:lvl6pPr>
              <a:lnSpc>
                <a:spcPts val="3200"/>
              </a:lnSpc>
              <a:spcAft>
                <a:spcPts val="0"/>
              </a:spcAft>
              <a:defRPr sz="2400"/>
            </a:lvl6pPr>
            <a:lvl7pPr>
              <a:lnSpc>
                <a:spcPts val="3200"/>
              </a:lnSpc>
              <a:spcAft>
                <a:spcPts val="0"/>
              </a:spcAft>
              <a:defRPr sz="2400"/>
            </a:lvl7pPr>
            <a:lvl8pPr>
              <a:lnSpc>
                <a:spcPts val="3200"/>
              </a:lnSpc>
              <a:spcAft>
                <a:spcPts val="0"/>
              </a:spcAft>
              <a:defRPr sz="2400"/>
            </a:lvl8pPr>
            <a:lvl9pPr>
              <a:lnSpc>
                <a:spcPts val="3200"/>
              </a:lnSpc>
              <a:spcAft>
                <a:spcPts val="0"/>
              </a:spcAft>
              <a:defRPr sz="24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</p:spTree>
    <p:extLst>
      <p:ext uri="{BB962C8B-B14F-4D97-AF65-F5344CB8AC3E}">
        <p14:creationId xmlns:p14="http://schemas.microsoft.com/office/powerpoint/2010/main" val="166439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2269">
          <p15:clr>
            <a:srgbClr val="FBAE40"/>
          </p15:clr>
        </p15:guide>
        <p15:guide id="5" pos="2790">
          <p15:clr>
            <a:srgbClr val="FBAE40"/>
          </p15:clr>
        </p15:guide>
        <p15:guide id="6" pos="54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248000" y="2448000"/>
            <a:ext cx="8640000" cy="897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44000" y="2544000"/>
            <a:ext cx="12096000" cy="8064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4442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83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250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/ Text / Bild inkl. Bildunter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248000" y="2448000"/>
            <a:ext cx="10944000" cy="897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480000" y="2544000"/>
            <a:ext cx="10560000" cy="705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80000" y="9888000"/>
            <a:ext cx="10560000" cy="1536000"/>
          </a:xfrm>
        </p:spPr>
        <p:txBody>
          <a:bodyPr/>
          <a:lstStyle>
            <a:lvl1pPr>
              <a:lnSpc>
                <a:spcPts val="3200"/>
              </a:lnSpc>
              <a:spcAft>
                <a:spcPts val="0"/>
              </a:spcAft>
              <a:defRPr sz="2400"/>
            </a:lvl1pPr>
            <a:lvl2pPr>
              <a:lnSpc>
                <a:spcPts val="3200"/>
              </a:lnSpc>
              <a:spcAft>
                <a:spcPts val="0"/>
              </a:spcAft>
              <a:defRPr sz="2400"/>
            </a:lvl2pPr>
            <a:lvl3pPr>
              <a:lnSpc>
                <a:spcPts val="3200"/>
              </a:lnSpc>
              <a:spcAft>
                <a:spcPts val="0"/>
              </a:spcAft>
              <a:defRPr sz="2400"/>
            </a:lvl3pPr>
            <a:lvl4pPr>
              <a:lnSpc>
                <a:spcPts val="3200"/>
              </a:lnSpc>
              <a:spcAft>
                <a:spcPts val="0"/>
              </a:spcAft>
              <a:defRPr sz="2400"/>
            </a:lvl4pPr>
            <a:lvl5pPr>
              <a:lnSpc>
                <a:spcPts val="3200"/>
              </a:lnSpc>
              <a:spcAft>
                <a:spcPts val="0"/>
              </a:spcAft>
              <a:defRPr sz="2400"/>
            </a:lvl5pPr>
            <a:lvl6pPr>
              <a:lnSpc>
                <a:spcPts val="3200"/>
              </a:lnSpc>
              <a:spcAft>
                <a:spcPts val="0"/>
              </a:spcAft>
              <a:defRPr sz="2400"/>
            </a:lvl6pPr>
            <a:lvl7pPr>
              <a:lnSpc>
                <a:spcPts val="3200"/>
              </a:lnSpc>
              <a:spcAft>
                <a:spcPts val="0"/>
              </a:spcAft>
              <a:defRPr sz="2400"/>
            </a:lvl7pPr>
            <a:lvl8pPr>
              <a:lnSpc>
                <a:spcPts val="3200"/>
              </a:lnSpc>
              <a:spcAft>
                <a:spcPts val="0"/>
              </a:spcAft>
              <a:defRPr sz="2400"/>
            </a:lvl8pPr>
            <a:lvl9pPr>
              <a:lnSpc>
                <a:spcPts val="3200"/>
              </a:lnSpc>
              <a:spcAft>
                <a:spcPts val="0"/>
              </a:spcAft>
              <a:defRPr sz="24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941995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226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/ Bild inkl. Bildunterzeile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3920000" y="2448000"/>
            <a:ext cx="9120000" cy="897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48000" y="2544000"/>
            <a:ext cx="10560000" cy="705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8000" y="9888000"/>
            <a:ext cx="10560000" cy="1536000"/>
          </a:xfrm>
        </p:spPr>
        <p:txBody>
          <a:bodyPr/>
          <a:lstStyle>
            <a:lvl1pPr>
              <a:lnSpc>
                <a:spcPts val="3200"/>
              </a:lnSpc>
              <a:spcAft>
                <a:spcPts val="0"/>
              </a:spcAft>
              <a:defRPr sz="2400"/>
            </a:lvl1pPr>
            <a:lvl2pPr>
              <a:lnSpc>
                <a:spcPts val="3200"/>
              </a:lnSpc>
              <a:spcAft>
                <a:spcPts val="0"/>
              </a:spcAft>
              <a:defRPr sz="2400"/>
            </a:lvl2pPr>
            <a:lvl3pPr>
              <a:lnSpc>
                <a:spcPts val="3200"/>
              </a:lnSpc>
              <a:spcAft>
                <a:spcPts val="0"/>
              </a:spcAft>
              <a:defRPr sz="2400"/>
            </a:lvl3pPr>
            <a:lvl4pPr>
              <a:lnSpc>
                <a:spcPts val="3200"/>
              </a:lnSpc>
              <a:spcAft>
                <a:spcPts val="0"/>
              </a:spcAft>
              <a:defRPr sz="2400"/>
            </a:lvl4pPr>
            <a:lvl5pPr>
              <a:lnSpc>
                <a:spcPts val="3200"/>
              </a:lnSpc>
              <a:spcAft>
                <a:spcPts val="0"/>
              </a:spcAft>
              <a:defRPr sz="2400"/>
            </a:lvl5pPr>
            <a:lvl6pPr>
              <a:lnSpc>
                <a:spcPts val="3200"/>
              </a:lnSpc>
              <a:spcAft>
                <a:spcPts val="0"/>
              </a:spcAft>
              <a:defRPr sz="2400"/>
            </a:lvl6pPr>
            <a:lvl7pPr>
              <a:lnSpc>
                <a:spcPts val="3200"/>
              </a:lnSpc>
              <a:spcAft>
                <a:spcPts val="0"/>
              </a:spcAft>
              <a:defRPr sz="2400"/>
            </a:lvl7pPr>
            <a:lvl8pPr>
              <a:lnSpc>
                <a:spcPts val="3200"/>
              </a:lnSpc>
              <a:spcAft>
                <a:spcPts val="0"/>
              </a:spcAft>
              <a:defRPr sz="2400"/>
            </a:lvl8pPr>
            <a:lvl9pPr>
              <a:lnSpc>
                <a:spcPts val="3200"/>
              </a:lnSpc>
              <a:spcAft>
                <a:spcPts val="0"/>
              </a:spcAft>
              <a:defRPr sz="24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50468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22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/ Text 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248000" y="2448000"/>
            <a:ext cx="14400000" cy="897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280000" y="2544000"/>
            <a:ext cx="5760000" cy="38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280000" y="7008000"/>
            <a:ext cx="5760000" cy="38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237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77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>
          <p15:clr>
            <a:srgbClr val="FBAE40"/>
          </p15:clr>
        </p15:guide>
        <p15:guide id="5" orient="horz" pos="2564">
          <p15:clr>
            <a:srgbClr val="FBAE40"/>
          </p15:clr>
        </p15:guide>
        <p15:guide id="6" orient="horz" pos="151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/ 2 Bilder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8640000" y="2448000"/>
            <a:ext cx="14400000" cy="897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48000" y="2544000"/>
            <a:ext cx="5760000" cy="38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48000" y="7008000"/>
            <a:ext cx="5760000" cy="38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3550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58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>
          <p15:clr>
            <a:srgbClr val="FBAE40"/>
          </p15:clr>
        </p15:guide>
        <p15:guide id="5" orient="horz" pos="2564">
          <p15:clr>
            <a:srgbClr val="FBAE40"/>
          </p15:clr>
        </p15:guide>
        <p15:guide id="6" orient="horz" pos="151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 EINFÜGEN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2F6D41-300A-44A6-A773-F84C7424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31618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7FEC2D-DBFC-481D-89EF-55316F02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C5583F-31A1-412C-900F-41106AD7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0479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1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116274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623441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248000" y="1056000"/>
            <a:ext cx="20160000" cy="124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KAPITEL | CHART-HEADLINE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48000" y="2448000"/>
            <a:ext cx="20160000" cy="89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(Text und Aufzählungen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60000" y="14730971"/>
            <a:ext cx="11424021" cy="4799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9pPr>
          </a:lstStyle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920000" y="12672000"/>
            <a:ext cx="16800000" cy="28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9pPr>
          </a:lstStyle>
          <a:p>
            <a:r>
              <a:rPr lang="de-DE" dirty="0"/>
              <a:t>Titel | ggf. weitere Angaben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4000" y="12672000"/>
            <a:ext cx="672000" cy="28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3200" baseline="0">
                <a:latin typeface="+mn-lt"/>
              </a:defRPr>
            </a:lvl9pPr>
          </a:lstStyle>
          <a:p>
            <a:fld id="{86CB4B4D-7CA3-9044-876B-883B54F8677D}" type="slidenum">
              <a:rPr lang="en-DE" smtClean="0"/>
              <a:t>‹#›</a:t>
            </a:fld>
            <a:endParaRPr lang="en-DE"/>
          </a:p>
        </p:txBody>
      </p:sp>
      <p:grpSp>
        <p:nvGrpSpPr>
          <p:cNvPr id="31" name="Regieanweisungen"/>
          <p:cNvGrpSpPr/>
          <p:nvPr/>
        </p:nvGrpSpPr>
        <p:grpSpPr>
          <a:xfrm>
            <a:off x="-5568000" y="-1247999"/>
            <a:ext cx="35424000" cy="16223997"/>
            <a:chOff x="-2088000" y="-468000"/>
            <a:chExt cx="13284000" cy="6083999"/>
          </a:xfrm>
        </p:grpSpPr>
        <p:grpSp>
          <p:nvGrpSpPr>
            <p:cNvPr id="29" name="Listenebenen"/>
            <p:cNvGrpSpPr/>
            <p:nvPr userDrawn="1"/>
          </p:nvGrpSpPr>
          <p:grpSpPr>
            <a:xfrm>
              <a:off x="-2088000" y="1368000"/>
              <a:ext cx="1980000" cy="2319874"/>
              <a:chOff x="-2088000" y="1368000"/>
              <a:chExt cx="1980000" cy="2319874"/>
            </a:xfrm>
          </p:grpSpPr>
          <p:sp>
            <p:nvSpPr>
              <p:cNvPr id="12" name="Text // Listenebene erhöhen"/>
              <p:cNvSpPr txBox="1"/>
              <p:nvPr userDrawn="1"/>
            </p:nvSpPr>
            <p:spPr>
              <a:xfrm>
                <a:off x="-2016000" y="2787874"/>
                <a:ext cx="93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415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3200" b="1" baseline="0" dirty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415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3200" b="1" baseline="0" dirty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13" name="Text // Listenebene verringern"/>
              <p:cNvSpPr txBox="1"/>
              <p:nvPr userDrawn="1"/>
            </p:nvSpPr>
            <p:spPr>
              <a:xfrm>
                <a:off x="-2016000" y="3291874"/>
                <a:ext cx="93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415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3200" b="1" baseline="0" dirty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415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3200" b="1" baseline="0" dirty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5" name="Listenebenen"/>
              <p:cNvSpPr txBox="1"/>
              <p:nvPr userDrawn="1"/>
            </p:nvSpPr>
            <p:spPr>
              <a:xfrm rot="10800000" flipH="1" flipV="1">
                <a:off x="-2088000" y="1368000"/>
                <a:ext cx="1980000" cy="828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415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3200" b="0" baseline="0" dirty="0">
                    <a:solidFill>
                      <a:schemeClr val="tx1"/>
                    </a:solidFill>
                    <a:latin typeface="+mn-lt"/>
                  </a:rPr>
                  <a:t>Listen erstellen</a:t>
                </a:r>
              </a:p>
              <a:p>
                <a:pPr marL="0" marR="0" lvl="0" indent="0" algn="r" defTabSz="2415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3200" b="0" baseline="0" dirty="0">
                    <a:solidFill>
                      <a:schemeClr val="tx1"/>
                    </a:solidFill>
                    <a:latin typeface="+mn-lt"/>
                  </a:rPr>
                  <a:t>Wechseln Sie die Textebene</a:t>
                </a:r>
              </a:p>
              <a:p>
                <a:pPr marL="0" marR="0" lvl="0" indent="0" algn="r" defTabSz="2415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3200" b="0" baseline="0" dirty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3200" b="0" baseline="0" dirty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3200" b="1" baseline="0" dirty="0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</a:p>
            </p:txBody>
          </p:sp>
          <p:pic>
            <p:nvPicPr>
              <p:cNvPr id="27" name="Bild // Listenebene verringern"/>
              <p:cNvPicPr>
                <a:picLocks noChangeAspect="1"/>
              </p:cNvPicPr>
              <p:nvPr userDrawn="1"/>
            </p:nvPicPr>
            <p:blipFill>
              <a:blip r:embed="rId20"/>
              <a:stretch>
                <a:fillRect/>
              </a:stretch>
            </p:blipFill>
            <p:spPr>
              <a:xfrm>
                <a:off x="-963360" y="3291874"/>
                <a:ext cx="855360" cy="396000"/>
              </a:xfrm>
              <a:prstGeom prst="rect">
                <a:avLst/>
              </a:prstGeom>
            </p:spPr>
          </p:pic>
          <p:pic>
            <p:nvPicPr>
              <p:cNvPr id="28" name="Bild // Listenebene erhöhen"/>
              <p:cNvPicPr>
                <a:picLocks noChangeAspect="1"/>
              </p:cNvPicPr>
              <p:nvPr userDrawn="1"/>
            </p:nvPicPr>
            <p:blipFill>
              <a:blip r:embed="rId21"/>
              <a:stretch>
                <a:fillRect/>
              </a:stretch>
            </p:blipFill>
            <p:spPr>
              <a:xfrm>
                <a:off x="-963360" y="2787874"/>
                <a:ext cx="855360" cy="396000"/>
              </a:xfrm>
              <a:prstGeom prst="rect">
                <a:avLst/>
              </a:prstGeom>
            </p:spPr>
          </p:pic>
        </p:grpSp>
        <p:sp>
          <p:nvSpPr>
            <p:cNvPr id="14" name="Zurücksetzen"/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3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3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3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5" name="Hilfslinien"/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7558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Menü: </a:t>
              </a:r>
              <a:r>
                <a:rPr kumimoji="0" lang="de-DE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Haken bei Führungslinien setzen</a:t>
              </a:r>
            </a:p>
          </p:txBody>
        </p:sp>
        <p:sp>
          <p:nvSpPr>
            <p:cNvPr id="16" name="Fußzeile"/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7558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3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3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2283786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32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3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32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415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32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</p:grp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1B1FA0-8233-4248-B899-BF9702E3E986}"/>
              </a:ext>
            </a:extLst>
          </p:cNvPr>
          <p:cNvCxnSpPr/>
          <p:nvPr/>
        </p:nvCxnSpPr>
        <p:spPr>
          <a:xfrm>
            <a:off x="0" y="11961600"/>
            <a:ext cx="2438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89C4D98-9606-4382-895C-2F9999CA328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488000" y="12479040"/>
            <a:ext cx="4032000" cy="76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9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marL="0" indent="0" algn="l" defTabSz="1828823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7200" b="0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0" indent="0" algn="l" defTabSz="1828823" rtl="0" eaLnBrk="1" latinLnBrk="0" hangingPunct="1">
        <a:lnSpc>
          <a:spcPts val="4800"/>
        </a:lnSpc>
        <a:spcBef>
          <a:spcPts val="0"/>
        </a:spcBef>
        <a:spcAft>
          <a:spcPts val="3200"/>
        </a:spcAft>
        <a:buSzPct val="75000"/>
        <a:buFont typeface="Arial" panose="020B0604020202020204" pitchFamily="34" charset="0"/>
        <a:buNone/>
        <a:defRPr sz="4000" b="1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1828823" rtl="0" eaLnBrk="1" latinLnBrk="0" hangingPunct="1">
        <a:lnSpc>
          <a:spcPts val="4800"/>
        </a:lnSpc>
        <a:spcBef>
          <a:spcPts val="0"/>
        </a:spcBef>
        <a:spcAft>
          <a:spcPts val="1600"/>
        </a:spcAft>
        <a:buSzPct val="75000"/>
        <a:buFont typeface="Arial" panose="020B0604020202020204" pitchFamily="34" charset="0"/>
        <a:buNone/>
        <a:defRPr sz="40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624008" indent="-624008" algn="l" defTabSz="1828823" rtl="0" eaLnBrk="1" latinLnBrk="0" hangingPunct="1">
        <a:lnSpc>
          <a:spcPts val="4800"/>
        </a:lnSpc>
        <a:spcBef>
          <a:spcPts val="0"/>
        </a:spcBef>
        <a:spcAft>
          <a:spcPts val="160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40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248016" indent="-624008" algn="l" defTabSz="1828823" rtl="0" eaLnBrk="1" latinLnBrk="0" hangingPunct="1">
        <a:lnSpc>
          <a:spcPts val="4800"/>
        </a:lnSpc>
        <a:spcBef>
          <a:spcPts val="0"/>
        </a:spcBef>
        <a:spcAft>
          <a:spcPts val="1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40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872023" indent="-624008" algn="l" defTabSz="1828823" rtl="0" eaLnBrk="1" latinLnBrk="0" hangingPunct="1">
        <a:lnSpc>
          <a:spcPts val="4800"/>
        </a:lnSpc>
        <a:spcBef>
          <a:spcPts val="0"/>
        </a:spcBef>
        <a:spcAft>
          <a:spcPts val="1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40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1828823" rtl="0" eaLnBrk="1" latinLnBrk="0" hangingPunct="1">
        <a:lnSpc>
          <a:spcPts val="4800"/>
        </a:lnSpc>
        <a:spcBef>
          <a:spcPts val="0"/>
        </a:spcBef>
        <a:spcAft>
          <a:spcPts val="1600"/>
        </a:spcAft>
        <a:buSzPct val="75000"/>
        <a:buFont typeface="Arial" panose="020B0604020202020204" pitchFamily="34" charset="0"/>
        <a:buNone/>
        <a:defRPr sz="40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1828823" rtl="0" eaLnBrk="1" latinLnBrk="0" hangingPunct="1">
        <a:lnSpc>
          <a:spcPts val="4800"/>
        </a:lnSpc>
        <a:spcBef>
          <a:spcPts val="0"/>
        </a:spcBef>
        <a:spcAft>
          <a:spcPts val="1600"/>
        </a:spcAft>
        <a:buSzPct val="75000"/>
        <a:buFont typeface="Arial" panose="020B0604020202020204" pitchFamily="34" charset="0"/>
        <a:buNone/>
        <a:defRPr sz="40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1828823" rtl="0" eaLnBrk="1" latinLnBrk="0" hangingPunct="1">
        <a:lnSpc>
          <a:spcPts val="4800"/>
        </a:lnSpc>
        <a:spcBef>
          <a:spcPts val="0"/>
        </a:spcBef>
        <a:spcAft>
          <a:spcPts val="1600"/>
        </a:spcAft>
        <a:buSzPct val="75000"/>
        <a:buFont typeface="Arial" panose="020B0604020202020204" pitchFamily="34" charset="0"/>
        <a:buNone/>
        <a:defRPr sz="40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1828823" rtl="0" eaLnBrk="1" latinLnBrk="0" hangingPunct="1">
        <a:lnSpc>
          <a:spcPts val="4800"/>
        </a:lnSpc>
        <a:spcBef>
          <a:spcPts val="0"/>
        </a:spcBef>
        <a:spcAft>
          <a:spcPts val="1600"/>
        </a:spcAft>
        <a:buSzPct val="75000"/>
        <a:buFont typeface="Arial" panose="020B0604020202020204" pitchFamily="34" charset="0"/>
        <a:buNone/>
        <a:defRPr sz="40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11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23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34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57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69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80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91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2">
          <p15:clr>
            <a:srgbClr val="5ACBF0"/>
          </p15:clr>
        </p15:guide>
        <p15:guide id="2" pos="5059">
          <p15:clr>
            <a:srgbClr val="5ACBF0"/>
          </p15:clr>
        </p15:guide>
        <p15:guide id="3" orient="horz" pos="245">
          <p15:clr>
            <a:srgbClr val="5ACBF0"/>
          </p15:clr>
        </p15:guide>
        <p15:guide id="4" orient="horz" pos="2700">
          <p15:clr>
            <a:srgbClr val="5ACBF0"/>
          </p15:clr>
        </p15:guide>
        <p15:guide id="5" pos="5443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8.gif"/><Relationship Id="rId4" Type="http://schemas.openxmlformats.org/officeDocument/2006/relationships/image" Target="../media/image27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hallenging Problems in RL: Project Report"/>
          <p:cNvSpPr txBox="1">
            <a:spLocks noGrp="1"/>
          </p:cNvSpPr>
          <p:nvPr>
            <p:ph type="body" sz="quarter" idx="21"/>
          </p:nvPr>
        </p:nvSpPr>
        <p:spPr>
          <a:xfrm>
            <a:off x="1201340" y="12292999"/>
            <a:ext cx="21971003" cy="636979"/>
          </a:xfrm>
          <a:prstGeom prst="rect">
            <a:avLst/>
          </a:prstGeom>
        </p:spPr>
        <p:txBody>
          <a:bodyPr/>
          <a:lstStyle/>
          <a:p>
            <a:r>
              <a:rPr lang="" dirty="0"/>
              <a:t>Challenging Problems in Reinforcement Learning</a:t>
            </a:r>
          </a:p>
        </p:txBody>
      </p:sp>
      <p:sp>
        <p:nvSpPr>
          <p:cNvPr id="172" name="Exploration vs. Exploitation: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Exploration vs. Exploitation:</a:t>
            </a:r>
          </a:p>
          <a:p>
            <a:r>
              <a:rPr dirty="0"/>
              <a:t>An Exploration</a:t>
            </a:r>
          </a:p>
        </p:txBody>
      </p:sp>
      <p:sp>
        <p:nvSpPr>
          <p:cNvPr id="171" name="Yingte Xu, Youssef Gharbi, July 15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>
            <a:lvl1pPr defTabSz="825500">
              <a:defRPr sz="3600"/>
            </a:lvl1pPr>
          </a:lstStyle>
          <a:p>
            <a:r>
              <a:t>Yingte Xu, Youssef Gharbi, July 15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images.jpeg" descr="imag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5479" y="8509028"/>
            <a:ext cx="3113477" cy="3113477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Ordering in the restaurant 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Ordering in the restaurant …</a:t>
            </a:r>
          </a:p>
        </p:txBody>
      </p:sp>
      <p:sp>
        <p:nvSpPr>
          <p:cNvPr id="177" name="It’s a practical RL problem.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It’s a practical RL problem.</a:t>
            </a:r>
          </a:p>
        </p:txBody>
      </p:sp>
      <p:sp>
        <p:nvSpPr>
          <p:cNvPr id="178" name="How to get food fitting your preference in the long term?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15813959" cy="8366883"/>
          </a:xfrm>
          <a:prstGeom prst="rect">
            <a:avLst/>
          </a:prstGeom>
        </p:spPr>
        <p:txBody>
          <a:bodyPr/>
          <a:lstStyle/>
          <a:p>
            <a:pPr marL="609600" indent="-609600">
              <a:buFont typeface="Arial" panose="020B0604020202020204" pitchFamily="34" charset="0"/>
              <a:buChar char="•"/>
              <a:defRPr sz="4100"/>
            </a:pPr>
            <a:r>
              <a:rPr sz="3600" b="0" dirty="0"/>
              <a:t>How to get food fitting your preference in the long term?</a:t>
            </a:r>
          </a:p>
          <a:p>
            <a:pPr marL="609600" indent="-609600">
              <a:buFont typeface="Arial" panose="020B0604020202020204" pitchFamily="34" charset="0"/>
              <a:buChar char="•"/>
              <a:defRPr sz="4100"/>
            </a:pPr>
            <a:r>
              <a:rPr sz="3600" b="0" dirty="0"/>
              <a:t>Follow others’ choice — </a:t>
            </a:r>
            <a:r>
              <a:rPr sz="3600" dirty="0"/>
              <a:t>Imitation Learning</a:t>
            </a:r>
          </a:p>
          <a:p>
            <a:pPr marL="609600" indent="-609600">
              <a:buFont typeface="Arial" panose="020B0604020202020204" pitchFamily="34" charset="0"/>
              <a:buChar char="•"/>
              <a:defRPr sz="4100"/>
            </a:pPr>
            <a:r>
              <a:rPr sz="3600" b="0" dirty="0"/>
              <a:t>Pick your current </a:t>
            </a:r>
            <a:r>
              <a:rPr sz="3600" b="0" dirty="0" err="1"/>
              <a:t>favourite</a:t>
            </a:r>
            <a:r>
              <a:rPr sz="3600" b="0" dirty="0"/>
              <a:t> — </a:t>
            </a:r>
            <a:r>
              <a:rPr sz="3600" dirty="0"/>
              <a:t>Exploitation</a:t>
            </a:r>
          </a:p>
          <a:p>
            <a:pPr marL="609600" indent="-609600">
              <a:buFont typeface="Arial" panose="020B0604020202020204" pitchFamily="34" charset="0"/>
              <a:buChar char="•"/>
              <a:defRPr sz="4100"/>
            </a:pPr>
            <a:r>
              <a:rPr sz="3600" b="0" dirty="0"/>
              <a:t>Try something new — </a:t>
            </a:r>
            <a:r>
              <a:rPr sz="3600" dirty="0"/>
              <a:t>Exploration</a:t>
            </a:r>
          </a:p>
          <a:p>
            <a:pPr marL="609600" indent="-609600">
              <a:buFont typeface="Arial" panose="020B0604020202020204" pitchFamily="34" charset="0"/>
              <a:buChar char="•"/>
              <a:defRPr sz="4100"/>
            </a:pPr>
            <a:r>
              <a:rPr sz="3600" b="0" dirty="0"/>
              <a:t>“I understand the menu …” </a:t>
            </a:r>
            <a:r>
              <a:rPr sz="3600" dirty="0"/>
              <a:t>— RL with priori knowledge</a:t>
            </a:r>
          </a:p>
        </p:txBody>
      </p:sp>
      <p:pic>
        <p:nvPicPr>
          <p:cNvPr id="179" name="images.jpeg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95665" y="795992"/>
            <a:ext cx="5817998" cy="77458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Why Explor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Exploration</a:t>
            </a:r>
          </a:p>
        </p:txBody>
      </p:sp>
      <p:sp>
        <p:nvSpPr>
          <p:cNvPr id="182" name="Exploitation is straightforward. Exploration is the hard part.…"/>
          <p:cNvSpPr txBox="1">
            <a:spLocks noGrp="1"/>
          </p:cNvSpPr>
          <p:nvPr>
            <p:ph type="body" idx="1"/>
          </p:nvPr>
        </p:nvSpPr>
        <p:spPr>
          <a:xfrm>
            <a:off x="1206500" y="2729994"/>
            <a:ext cx="21971000" cy="8256012"/>
          </a:xfrm>
          <a:prstGeom prst="rect">
            <a:avLst/>
          </a:prstGeom>
        </p:spPr>
        <p:txBody>
          <a:bodyPr/>
          <a:lstStyle/>
          <a:p>
            <a:pPr marL="609600" indent="-609600">
              <a:buFont typeface="Arial" panose="020B0604020202020204" pitchFamily="34" charset="0"/>
              <a:buChar char="•"/>
              <a:defRPr sz="4100"/>
            </a:pPr>
            <a:r>
              <a:rPr sz="3600" b="0" dirty="0"/>
              <a:t>Exploitation is straightforward. Exploration is the hard part.</a:t>
            </a:r>
          </a:p>
          <a:p>
            <a:pPr marL="609600" indent="-609600">
              <a:buFont typeface="Arial" panose="020B0604020202020204" pitchFamily="34" charset="0"/>
              <a:buChar char="•"/>
              <a:defRPr sz="4100"/>
            </a:pPr>
            <a:r>
              <a:rPr sz="3600" b="0" dirty="0"/>
              <a:t>Good exploration improves sample efficiency.</a:t>
            </a:r>
          </a:p>
          <a:p>
            <a:pPr marL="609600" indent="-609600">
              <a:buFont typeface="Arial" panose="020B0604020202020204" pitchFamily="34" charset="0"/>
              <a:buChar char="•"/>
              <a:defRPr sz="4100"/>
            </a:pPr>
            <a:r>
              <a:rPr sz="3600" b="0" dirty="0"/>
              <a:t>The best long-term strategy may look non-greedy in the short term.</a:t>
            </a:r>
          </a:p>
          <a:p>
            <a:pPr marL="609600" indent="-609600">
              <a:buFont typeface="Arial" panose="020B0604020202020204" pitchFamily="34" charset="0"/>
              <a:buChar char="•"/>
              <a:defRPr sz="4100"/>
            </a:pPr>
            <a:r>
              <a:rPr sz="3600" b="0" dirty="0"/>
              <a:t>Exploration is critical in problems with sparse rewards.</a:t>
            </a:r>
          </a:p>
        </p:txBody>
      </p:sp>
      <p:pic>
        <p:nvPicPr>
          <p:cNvPr id="183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72" y="6687634"/>
            <a:ext cx="5081065" cy="50810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images.png" descr="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9484" y="6989571"/>
            <a:ext cx="3641240" cy="47791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Methods for Exploration"/>
          <p:cNvSpPr txBox="1">
            <a:spLocks noGrp="1"/>
          </p:cNvSpPr>
          <p:nvPr>
            <p:ph type="title"/>
          </p:nvPr>
        </p:nvSpPr>
        <p:spPr>
          <a:xfrm>
            <a:off x="869616" y="445644"/>
            <a:ext cx="20160000" cy="1248000"/>
          </a:xfrm>
          <a:prstGeom prst="rect">
            <a:avLst/>
          </a:prstGeom>
        </p:spPr>
        <p:txBody>
          <a:bodyPr/>
          <a:lstStyle/>
          <a:p>
            <a:r>
              <a:rPr dirty="0"/>
              <a:t>Methods for Exploration</a:t>
            </a:r>
          </a:p>
        </p:txBody>
      </p:sp>
      <p:sp>
        <p:nvSpPr>
          <p:cNvPr id="187" name="Source of exploration…"/>
          <p:cNvSpPr txBox="1">
            <a:spLocks noGrp="1"/>
          </p:cNvSpPr>
          <p:nvPr>
            <p:ph type="body" idx="1"/>
          </p:nvPr>
        </p:nvSpPr>
        <p:spPr>
          <a:xfrm>
            <a:off x="653048" y="2248960"/>
            <a:ext cx="21971000" cy="9218080"/>
          </a:xfrm>
          <a:prstGeom prst="rect">
            <a:avLst/>
          </a:prstGeom>
        </p:spPr>
        <p:txBody>
          <a:bodyPr/>
          <a:lstStyle/>
          <a:p>
            <a:pPr marL="469391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lang="fr-FR" sz="3600" dirty="0"/>
              <a:t>Source of exploration</a:t>
            </a:r>
          </a:p>
          <a:p>
            <a:pPr marL="1562791" lvl="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lang="fr-FR" sz="3600" dirty="0" err="1"/>
              <a:t>Randomness</a:t>
            </a:r>
            <a:r>
              <a:rPr lang="fr-FR" sz="3600" dirty="0"/>
              <a:t>: epsilon-</a:t>
            </a:r>
            <a:r>
              <a:rPr lang="fr-FR" sz="3600" dirty="0" err="1"/>
              <a:t>greedy</a:t>
            </a:r>
            <a:r>
              <a:rPr lang="fr-FR" sz="3600" dirty="0"/>
              <a:t>, </a:t>
            </a:r>
            <a:r>
              <a:rPr lang="fr-FR" sz="3600" dirty="0" err="1"/>
              <a:t>entropy</a:t>
            </a:r>
            <a:r>
              <a:rPr lang="fr-FR" sz="3600" dirty="0"/>
              <a:t> bonus, </a:t>
            </a:r>
            <a:r>
              <a:rPr lang="fr-FR" sz="3600" dirty="0" err="1"/>
              <a:t>softmax</a:t>
            </a:r>
            <a:r>
              <a:rPr lang="fr-FR" sz="3600" dirty="0"/>
              <a:t> sampling</a:t>
            </a:r>
          </a:p>
          <a:p>
            <a:pPr marL="1562791" lvl="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lang="fr-FR" sz="3600" dirty="0" err="1"/>
              <a:t>Uncertainty</a:t>
            </a:r>
            <a:r>
              <a:rPr lang="fr-FR" sz="3600" dirty="0"/>
              <a:t>: UCB, Thompson sampling</a:t>
            </a:r>
          </a:p>
          <a:p>
            <a:pPr marL="1562791" lvl="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lang="fr-FR" sz="3600" b="1" dirty="0"/>
              <a:t>Curiosity: MSE, ICM, RND</a:t>
            </a:r>
          </a:p>
          <a:p>
            <a:pPr marL="469391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lang="fr-FR" sz="3600" dirty="0" err="1"/>
              <a:t>Approach</a:t>
            </a:r>
            <a:r>
              <a:rPr lang="fr-FR" sz="3600" dirty="0"/>
              <a:t> of exploration</a:t>
            </a:r>
          </a:p>
          <a:p>
            <a:pPr marL="1562791" lvl="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lang="fr-FR" sz="3600" dirty="0" err="1"/>
              <a:t>Manipulate</a:t>
            </a:r>
            <a:r>
              <a:rPr lang="fr-FR" sz="3600" dirty="0"/>
              <a:t> the sampling</a:t>
            </a:r>
          </a:p>
          <a:p>
            <a:pPr marL="1562791" lvl="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lang="fr-FR" sz="3600" dirty="0" err="1"/>
              <a:t>Modify</a:t>
            </a:r>
            <a:r>
              <a:rPr lang="fr-FR" sz="3600" dirty="0"/>
              <a:t> the </a:t>
            </a:r>
            <a:r>
              <a:rPr lang="fr-FR" sz="3600" dirty="0" err="1"/>
              <a:t>reward</a:t>
            </a:r>
            <a:endParaRPr lang="fr-FR" sz="3600" dirty="0"/>
          </a:p>
          <a:p>
            <a:pPr marL="1562791" lvl="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lang="fr-FR" sz="3600" dirty="0" err="1"/>
              <a:t>Modify</a:t>
            </a:r>
            <a:r>
              <a:rPr lang="fr-FR" sz="3600" dirty="0"/>
              <a:t> the objective/</a:t>
            </a:r>
            <a:r>
              <a:rPr lang="fr-FR" sz="3600" dirty="0" err="1"/>
              <a:t>loss</a:t>
            </a:r>
            <a:endParaRPr lang="fr-FR" sz="3600" dirty="0"/>
          </a:p>
          <a:p>
            <a:pPr marL="469391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lang="fr-FR" sz="3600" dirty="0" err="1"/>
              <a:t>Different</a:t>
            </a:r>
            <a:r>
              <a:rPr lang="fr-FR" sz="3600" dirty="0"/>
              <a:t> </a:t>
            </a:r>
            <a:r>
              <a:rPr lang="fr-FR" sz="3600" dirty="0" err="1"/>
              <a:t>approaches</a:t>
            </a:r>
            <a:r>
              <a:rPr lang="fr-FR" sz="3600" dirty="0"/>
              <a:t> can </a:t>
            </a:r>
            <a:r>
              <a:rPr lang="fr-FR" sz="3600" dirty="0" err="1"/>
              <a:t>be</a:t>
            </a:r>
            <a:r>
              <a:rPr lang="fr-FR" sz="3600" dirty="0"/>
              <a:t> </a:t>
            </a:r>
            <a:r>
              <a:rPr lang="fr-FR" sz="3600" dirty="0" err="1"/>
              <a:t>combined</a:t>
            </a:r>
            <a:endParaRPr lang="fr-FR" sz="3600" dirty="0"/>
          </a:p>
        </p:txBody>
      </p:sp>
      <p:pic>
        <p:nvPicPr>
          <p:cNvPr id="188" name="已粘贴的影片.png" descr="已粘贴的影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916" y="7281604"/>
            <a:ext cx="3988188" cy="103547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已粘贴的影片.png" descr="已粘贴的影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440" y="6858000"/>
            <a:ext cx="5864480" cy="6653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已粘贴的影片.png" descr="已粘贴的影片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859" y="8078710"/>
            <a:ext cx="7623641" cy="9347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MSE, ICM and RND"/>
          <p:cNvSpPr txBox="1">
            <a:spLocks noGrp="1"/>
          </p:cNvSpPr>
          <p:nvPr>
            <p:ph type="title"/>
          </p:nvPr>
        </p:nvSpPr>
        <p:spPr>
          <a:xfrm>
            <a:off x="1302511" y="748680"/>
            <a:ext cx="20160000" cy="1248000"/>
          </a:xfrm>
          <a:prstGeom prst="rect">
            <a:avLst/>
          </a:prstGeom>
        </p:spPr>
        <p:txBody>
          <a:bodyPr/>
          <a:lstStyle/>
          <a:p>
            <a:r>
              <a:rPr dirty="0"/>
              <a:t>MSE, ICM and RND</a:t>
            </a:r>
          </a:p>
        </p:txBody>
      </p:sp>
      <p:sp>
        <p:nvSpPr>
          <p:cNvPr id="193" name="Intrinsic Reward:…"/>
          <p:cNvSpPr txBox="1">
            <a:spLocks noGrp="1"/>
          </p:cNvSpPr>
          <p:nvPr>
            <p:ph type="body" idx="1"/>
          </p:nvPr>
        </p:nvSpPr>
        <p:spPr>
          <a:xfrm>
            <a:off x="1206500" y="2179981"/>
            <a:ext cx="21971000" cy="8256012"/>
          </a:xfrm>
          <a:prstGeom prst="rect">
            <a:avLst/>
          </a:prstGeom>
        </p:spPr>
        <p:txBody>
          <a:bodyPr/>
          <a:lstStyle/>
          <a:p>
            <a:pPr marL="609599" indent="-609599">
              <a:buFont typeface="Arial" panose="020B0604020202020204" pitchFamily="34" charset="0"/>
              <a:buChar char="•"/>
              <a:defRPr sz="3600"/>
            </a:pPr>
            <a:r>
              <a:rPr b="0" dirty="0"/>
              <a:t>Intrinsic Reward: </a:t>
            </a:r>
          </a:p>
          <a:p>
            <a:pPr marL="609599" indent="-609599">
              <a:buFont typeface="Arial" panose="020B0604020202020204" pitchFamily="34" charset="0"/>
              <a:buChar char="•"/>
              <a:defRPr sz="3600"/>
            </a:pPr>
            <a:endParaRPr b="0" dirty="0"/>
          </a:p>
          <a:p>
            <a:pPr marL="609599" indent="-609599">
              <a:buFont typeface="Arial" panose="020B0604020202020204" pitchFamily="34" charset="0"/>
              <a:buChar char="•"/>
              <a:defRPr sz="3600"/>
            </a:pPr>
            <a:r>
              <a:rPr b="0" dirty="0"/>
              <a:t>MSE (raw Mean-Square Error)</a:t>
            </a:r>
          </a:p>
          <a:p>
            <a:pPr marL="609599" indent="-609599">
              <a:buFont typeface="Arial" panose="020B0604020202020204" pitchFamily="34" charset="0"/>
              <a:buChar char="•"/>
              <a:defRPr sz="3600"/>
            </a:pPr>
            <a:endParaRPr b="0" dirty="0"/>
          </a:p>
          <a:p>
            <a:pPr marL="609599" indent="-609599">
              <a:buFont typeface="Arial" panose="020B0604020202020204" pitchFamily="34" charset="0"/>
              <a:buChar char="•"/>
              <a:defRPr sz="3600"/>
            </a:pPr>
            <a:r>
              <a:rPr b="0" dirty="0"/>
              <a:t>ICM (Intrinsic Curiosity Module)</a:t>
            </a:r>
            <a:br>
              <a:rPr b="0" dirty="0"/>
            </a:br>
            <a:r>
              <a:rPr b="0" dirty="0"/>
              <a:t>MSE with learned feature and inverse model</a:t>
            </a:r>
          </a:p>
          <a:p>
            <a:pPr marL="609599" indent="-609599">
              <a:buFont typeface="Arial" panose="020B0604020202020204" pitchFamily="34" charset="0"/>
              <a:buChar char="•"/>
              <a:defRPr sz="3600"/>
            </a:pPr>
            <a:endParaRPr b="0" dirty="0"/>
          </a:p>
          <a:p>
            <a:pPr marL="609599" indent="-609599">
              <a:buFont typeface="Arial" panose="020B0604020202020204" pitchFamily="34" charset="0"/>
              <a:buChar char="•"/>
              <a:defRPr sz="3600"/>
            </a:pPr>
            <a:r>
              <a:rPr b="0" dirty="0"/>
              <a:t>RND (Random Network Distillation)</a:t>
            </a:r>
            <a:br>
              <a:rPr b="0" dirty="0"/>
            </a:br>
            <a:r>
              <a:rPr b="0" dirty="0"/>
              <a:t>Prediction error between a trained predictor and a fixed random neural network.</a:t>
            </a:r>
          </a:p>
        </p:txBody>
      </p:sp>
      <p:pic>
        <p:nvPicPr>
          <p:cNvPr id="194" name="已粘贴的影片.png" descr="已粘贴的影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45" y="10117461"/>
            <a:ext cx="7985710" cy="14906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已粘贴的影片.png" descr="已粘贴的影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941" y="7570240"/>
            <a:ext cx="8402118" cy="12160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已粘贴的影片.png" descr="已粘贴的影片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3080" y="2471563"/>
            <a:ext cx="4794035" cy="1244700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RND: Burda, Y., Edwards, H., Storkey, A., &amp; Klimov, O. (2019). Exploration by Random Network Distillation. ICLR. MSE, ICM: Pathak, D., Agrawal, P., Efros, A. A., &amp; Darrell, T. (2017). Curiosity-driven Exploration by Self-supervised Prediction. ICML."/>
          <p:cNvSpPr txBox="1"/>
          <p:nvPr/>
        </p:nvSpPr>
        <p:spPr>
          <a:xfrm>
            <a:off x="1302511" y="12780265"/>
            <a:ext cx="18044771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400"/>
            </a:pPr>
            <a:r>
              <a:t>RND: Burda, Y., Edwards, H., Storkey, A., &amp; Klimov, O. (2019). Exploration by Random Network Distillation. ICLR.</a:t>
            </a:r>
            <a:br/>
            <a:r>
              <a:t>MSE, ICM: Pathak, D., Agrawal, P., Efros, A. A., &amp; Darrell, T. (2017). </a:t>
            </a:r>
            <a:r>
              <a:rPr i="1"/>
              <a:t>Curiosity-driven Exploration by Self-supervised Prediction</a:t>
            </a:r>
            <a:r>
              <a:t>. ICML.</a:t>
            </a:r>
          </a:p>
        </p:txBody>
      </p:sp>
      <p:pic>
        <p:nvPicPr>
          <p:cNvPr id="198" name="已粘贴的影片.png" descr="已粘贴的影片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578" y="4648272"/>
            <a:ext cx="6886085" cy="14906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MiniWorl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MiniWorld</a:t>
            </a:r>
          </a:p>
        </p:txBody>
      </p:sp>
      <p:sp>
        <p:nvSpPr>
          <p:cNvPr id="201" name="2D maze with continuous movement"/>
          <p:cNvSpPr txBox="1">
            <a:spLocks noGrp="1"/>
          </p:cNvSpPr>
          <p:nvPr>
            <p:ph type="body" sz="quarter" idx="21"/>
          </p:nvPr>
        </p:nvSpPr>
        <p:spPr>
          <a:xfrm>
            <a:off x="1248000" y="2175875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825500">
              <a:defRPr sz="4500"/>
            </a:lvl1pPr>
          </a:lstStyle>
          <a:p>
            <a:r>
              <a:rPr dirty="0"/>
              <a:t>2D maze with continuous movement</a:t>
            </a:r>
          </a:p>
        </p:txBody>
      </p:sp>
      <p:sp>
        <p:nvSpPr>
          <p:cNvPr id="202" name="State: 2176 reachable discretized cells…"/>
          <p:cNvSpPr txBox="1">
            <a:spLocks noGrp="1"/>
          </p:cNvSpPr>
          <p:nvPr>
            <p:ph type="body" idx="1"/>
          </p:nvPr>
        </p:nvSpPr>
        <p:spPr>
          <a:xfrm>
            <a:off x="814863" y="3376704"/>
            <a:ext cx="20160000" cy="8976000"/>
          </a:xfrm>
          <a:prstGeom prst="rect">
            <a:avLst/>
          </a:prstGeom>
        </p:spPr>
        <p:txBody>
          <a:bodyPr/>
          <a:lstStyle/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State: 2176 reachable discretized cells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Observation: Camera rendering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Actions: </a:t>
            </a:r>
          </a:p>
          <a:p>
            <a:pPr marL="1215320" lvl="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dirty="0"/>
              <a:t>Forward, Backward, Turn left, Turn right</a:t>
            </a:r>
          </a:p>
          <a:p>
            <a:pPr marL="1215320" lvl="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dirty="0"/>
              <a:t>Noise action</a:t>
            </a:r>
            <a:br>
              <a:rPr sz="3600" dirty="0"/>
            </a:br>
            <a:br>
              <a:rPr lang="en-GB" sz="3600" dirty="0"/>
            </a:br>
            <a:r>
              <a:rPr sz="3600" dirty="0"/>
              <a:t>(</a:t>
            </a:r>
            <a:r>
              <a:rPr lang="en-GB" sz="3600" dirty="0"/>
              <a:t>replace the observation with</a:t>
            </a:r>
            <a:br>
              <a:rPr lang="en-GB" sz="3600" dirty="0"/>
            </a:br>
            <a:br>
              <a:rPr lang="en-GB" sz="3600" dirty="0"/>
            </a:br>
            <a:r>
              <a:rPr sz="3600" dirty="0"/>
              <a:t>random image from CIFAR-10 dataset)</a:t>
            </a:r>
          </a:p>
        </p:txBody>
      </p:sp>
      <p:pic>
        <p:nvPicPr>
          <p:cNvPr id="203" name="已粘贴的影片.png" descr="已粘贴的影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6119" y="2096735"/>
            <a:ext cx="12296432" cy="95225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已粘贴的影片.png" descr="已粘贴的影片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063" y="8701733"/>
            <a:ext cx="4220905" cy="32751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he noisy-TV Probl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noisy-TV Problem</a:t>
            </a:r>
          </a:p>
        </p:txBody>
      </p:sp>
      <p:sp>
        <p:nvSpPr>
          <p:cNvPr id="207" name="Vulnerability of Prediction-error driven exploration.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rPr dirty="0"/>
              <a:t>Vulnerability of Prediction-error driven exploration.</a:t>
            </a:r>
          </a:p>
        </p:txBody>
      </p:sp>
      <p:sp>
        <p:nvSpPr>
          <p:cNvPr id="208" name="With a TV showing random noise, traditional intrinsic reward methods will be distracted.…"/>
          <p:cNvSpPr txBox="1">
            <a:spLocks noGrp="1"/>
          </p:cNvSpPr>
          <p:nvPr>
            <p:ph type="body" idx="1"/>
          </p:nvPr>
        </p:nvSpPr>
        <p:spPr>
          <a:xfrm>
            <a:off x="1206500" y="4141200"/>
            <a:ext cx="20160000" cy="8976000"/>
          </a:xfrm>
          <a:prstGeom prst="rect">
            <a:avLst/>
          </a:prstGeom>
        </p:spPr>
        <p:txBody>
          <a:bodyPr/>
          <a:lstStyle/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With a TV showing random noise, </a:t>
            </a:r>
            <a:r>
              <a:rPr lang="en-US" sz="3600" b="0" dirty="0"/>
              <a:t>error-based</a:t>
            </a:r>
            <a:r>
              <a:rPr sz="3600" b="0" dirty="0"/>
              <a:t> intrinsic reward methods will be distracted.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High intrinsic reward for staring at the TV and noise action.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Root cause: intrinsic reward by prediction error.</a:t>
            </a:r>
          </a:p>
        </p:txBody>
      </p:sp>
      <p:pic>
        <p:nvPicPr>
          <p:cNvPr id="209" name="已粘贴的影片.png" descr="已粘贴的影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8223" y="6071190"/>
            <a:ext cx="8171779" cy="55363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LPM: Learning Progress Monitor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LPM: Learning Progress Monitoring</a:t>
            </a:r>
          </a:p>
        </p:txBody>
      </p:sp>
      <p:sp>
        <p:nvSpPr>
          <p:cNvPr id="213" name="Idea: use the predictor as MSE, but take information gain as reward."/>
          <p:cNvSpPr txBox="1">
            <a:spLocks noGrp="1"/>
          </p:cNvSpPr>
          <p:nvPr>
            <p:ph type="body" idx="1"/>
          </p:nvPr>
        </p:nvSpPr>
        <p:spPr>
          <a:xfrm>
            <a:off x="679385" y="4042332"/>
            <a:ext cx="21971000" cy="8256012"/>
          </a:xfrm>
          <a:prstGeom prst="rect">
            <a:avLst/>
          </a:prstGeom>
        </p:spPr>
        <p:txBody>
          <a:bodyPr/>
          <a:lstStyle/>
          <a:p>
            <a:r>
              <a:rPr sz="3600" b="0" dirty="0"/>
              <a:t>Idea: use the</a:t>
            </a:r>
            <a:r>
              <a:rPr lang="en-GB" sz="3600" b="0" dirty="0"/>
              <a:t> same</a:t>
            </a:r>
            <a:r>
              <a:rPr sz="3600" b="0" dirty="0"/>
              <a:t> predictor as MSE, but take information gain as reward.</a:t>
            </a:r>
          </a:p>
        </p:txBody>
      </p:sp>
      <p:sp>
        <p:nvSpPr>
          <p:cNvPr id="214" name="LPM: Hou et al., Beyond Noisy-TVs: Noise-Robust Exploration Via Learning Progress Monitoring, ICLR 2026."/>
          <p:cNvSpPr txBox="1"/>
          <p:nvPr/>
        </p:nvSpPr>
        <p:spPr>
          <a:xfrm>
            <a:off x="1166862" y="12848292"/>
            <a:ext cx="14905026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LPM: Hou et al., Beyond Noisy-TVs: Noise-Robust Exploration Via Learning Progress Monitoring, ICLR 2026.</a:t>
            </a:r>
          </a:p>
        </p:txBody>
      </p:sp>
      <p:pic>
        <p:nvPicPr>
          <p:cNvPr id="215" name="已粘贴的影片.png" descr="已粘贴的影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324" y="6249034"/>
            <a:ext cx="8661352" cy="1880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已粘贴的影片.png" descr="已粘贴的影片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659" y="8170338"/>
            <a:ext cx="7590682" cy="13745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MiniWorld Experiment Setu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MiniWorld Experiment Setup</a:t>
            </a:r>
          </a:p>
        </p:txBody>
      </p:sp>
      <p:sp>
        <p:nvSpPr>
          <p:cNvPr id="219" name="1 episode of 50k steps, no extrinsic reward!…"/>
          <p:cNvSpPr txBox="1">
            <a:spLocks noGrp="1"/>
          </p:cNvSpPr>
          <p:nvPr>
            <p:ph type="body" idx="1"/>
          </p:nvPr>
        </p:nvSpPr>
        <p:spPr>
          <a:xfrm>
            <a:off x="1206500" y="3667668"/>
            <a:ext cx="21971000" cy="8256012"/>
          </a:xfrm>
          <a:prstGeom prst="rect">
            <a:avLst/>
          </a:prstGeom>
        </p:spPr>
        <p:txBody>
          <a:bodyPr/>
          <a:lstStyle/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1 episode of 50k steps, no extrinsic reward!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A2C algorithm, CNN model for actor and critic.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Three environments: </a:t>
            </a:r>
            <a:r>
              <a:rPr sz="3600" b="0" dirty="0" err="1"/>
              <a:t>nonoise</a:t>
            </a:r>
            <a:r>
              <a:rPr sz="3600" b="0" dirty="0"/>
              <a:t>, noisy-tv, action-noise.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Agent Variations: </a:t>
            </a:r>
            <a:r>
              <a:rPr sz="3600" dirty="0"/>
              <a:t>Uniform, None (No Exploration), </a:t>
            </a:r>
            <a:r>
              <a:rPr sz="3600" b="0" dirty="0"/>
              <a:t>MSE, ICM, RND, LPM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Metrics: noise-action rate, coverage rate.</a:t>
            </a:r>
          </a:p>
        </p:txBody>
      </p:sp>
      <p:pic>
        <p:nvPicPr>
          <p:cNvPr id="220" name="已粘贴的影片.png" descr="已粘贴的影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199" y="8824707"/>
            <a:ext cx="3743801" cy="28992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已粘贴的影片.png" descr="已粘贴的影片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282" y="8825496"/>
            <a:ext cx="3730736" cy="28992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已粘贴的影片.png" descr="已粘贴的影片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2631" y="8829170"/>
            <a:ext cx="3730737" cy="28947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已粘贴的影片.png" descr="已粘贴的影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6181" y="8824707"/>
            <a:ext cx="3743801" cy="2899252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nonoise"/>
          <p:cNvSpPr txBox="1"/>
          <p:nvPr/>
        </p:nvSpPr>
        <p:spPr>
          <a:xfrm>
            <a:off x="2245139" y="7983451"/>
            <a:ext cx="2467022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rPr sz="4800" dirty="0" err="1"/>
              <a:t>nonoise</a:t>
            </a:r>
            <a:endParaRPr sz="4800" dirty="0"/>
          </a:p>
        </p:txBody>
      </p:sp>
      <p:sp>
        <p:nvSpPr>
          <p:cNvPr id="225" name="noisy-tv"/>
          <p:cNvSpPr txBox="1"/>
          <p:nvPr/>
        </p:nvSpPr>
        <p:spPr>
          <a:xfrm>
            <a:off x="9032516" y="7983451"/>
            <a:ext cx="2467022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rPr sz="4800" dirty="0"/>
              <a:t>noisy-tv</a:t>
            </a:r>
          </a:p>
        </p:txBody>
      </p:sp>
      <p:sp>
        <p:nvSpPr>
          <p:cNvPr id="226" name="action-noise"/>
          <p:cNvSpPr txBox="1"/>
          <p:nvPr/>
        </p:nvSpPr>
        <p:spPr>
          <a:xfrm>
            <a:off x="17458055" y="7983451"/>
            <a:ext cx="3734997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rPr sz="4800" dirty="0"/>
              <a:t>action-noise</a:t>
            </a:r>
          </a:p>
        </p:txBody>
      </p:sp>
      <p:sp>
        <p:nvSpPr>
          <p:cNvPr id="227" name="Does LPM explore better?"/>
          <p:cNvSpPr txBox="1"/>
          <p:nvPr/>
        </p:nvSpPr>
        <p:spPr>
          <a:xfrm>
            <a:off x="1206500" y="2372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Does LPM explore better?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Action Noise Rat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Action Noise Rate</a:t>
            </a:r>
          </a:p>
        </p:txBody>
      </p:sp>
      <p:sp>
        <p:nvSpPr>
          <p:cNvPr id="230" name="Uniform and None: random baseline…"/>
          <p:cNvSpPr txBox="1">
            <a:spLocks noGrp="1"/>
          </p:cNvSpPr>
          <p:nvPr>
            <p:ph type="body" idx="1"/>
          </p:nvPr>
        </p:nvSpPr>
        <p:spPr>
          <a:xfrm>
            <a:off x="1248000" y="3396427"/>
            <a:ext cx="20160000" cy="8976000"/>
          </a:xfrm>
          <a:prstGeom prst="rect">
            <a:avLst/>
          </a:prstGeom>
        </p:spPr>
        <p:txBody>
          <a:bodyPr/>
          <a:lstStyle/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Uniform and None: random baseline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Distraction: MSE &gt; RND &gt; ICM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LPM is very robust under action noise.</a:t>
            </a:r>
          </a:p>
        </p:txBody>
      </p:sp>
      <p:pic>
        <p:nvPicPr>
          <p:cNvPr id="231" name="mw_tv_fixation.png" descr="mw_tv_fix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539" y="2882814"/>
            <a:ext cx="13416020" cy="82560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overage Rat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Coverage Rate</a:t>
            </a:r>
          </a:p>
        </p:txBody>
      </p:sp>
      <p:sp>
        <p:nvSpPr>
          <p:cNvPr id="234" name="Very large variance.…"/>
          <p:cNvSpPr txBox="1">
            <a:spLocks noGrp="1"/>
          </p:cNvSpPr>
          <p:nvPr>
            <p:ph type="body" idx="1"/>
          </p:nvPr>
        </p:nvSpPr>
        <p:spPr>
          <a:xfrm>
            <a:off x="1206500" y="2496506"/>
            <a:ext cx="21971000" cy="3206463"/>
          </a:xfrm>
          <a:prstGeom prst="rect">
            <a:avLst/>
          </a:prstGeom>
        </p:spPr>
        <p:txBody>
          <a:bodyPr>
            <a:noAutofit/>
          </a:bodyPr>
          <a:lstStyle/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Very large variance.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Actually uniform and None perform the best.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LPM performs relatively better with action noise, but still worse than ICM.</a:t>
            </a:r>
          </a:p>
          <a:p>
            <a:pPr marL="591312" indent="-591312" defTabSz="2365188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4"/>
            </a:pPr>
            <a:r>
              <a:rPr sz="3600" b="0" dirty="0"/>
              <a:t>MSE exploration collapses with action noise.</a:t>
            </a:r>
          </a:p>
        </p:txBody>
      </p:sp>
      <p:pic>
        <p:nvPicPr>
          <p:cNvPr id="235" name="mw_coverage_curves.png" descr="mw_coverag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2969"/>
            <a:ext cx="24384001" cy="6502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Exploration Heat 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7100" spc="-142"/>
            </a:lvl1pPr>
          </a:lstStyle>
          <a:p>
            <a:r>
              <a:rPr dirty="0"/>
              <a:t>Exploration Heat Map</a:t>
            </a:r>
          </a:p>
        </p:txBody>
      </p:sp>
      <p:sp>
        <p:nvSpPr>
          <p:cNvPr id="239" name="Coverage heat map at different stages (1 episode of 50k steps)…"/>
          <p:cNvSpPr txBox="1">
            <a:spLocks noGrp="1"/>
          </p:cNvSpPr>
          <p:nvPr>
            <p:ph type="body" idx="1"/>
          </p:nvPr>
        </p:nvSpPr>
        <p:spPr>
          <a:xfrm>
            <a:off x="1248000" y="3522000"/>
            <a:ext cx="20160000" cy="89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L="457200" indent="-45720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Char char="•"/>
            </a:pPr>
            <a:r>
              <a:rPr sz="3600" b="0" dirty="0"/>
              <a:t>Coverage heat map at different stages</a:t>
            </a:r>
            <a:br>
              <a:rPr sz="3600" b="0" dirty="0"/>
            </a:br>
            <a:br>
              <a:rPr lang="en-GB" sz="3600" b="0" dirty="0"/>
            </a:br>
            <a:r>
              <a:rPr sz="3600" b="0" dirty="0"/>
              <a:t>(1 episode of 50k steps)</a:t>
            </a:r>
          </a:p>
          <a:p>
            <a:pPr marL="457200" indent="-45720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Char char="•"/>
            </a:pPr>
            <a:r>
              <a:rPr sz="3600" b="0" dirty="0"/>
              <a:t>Uniform: visitation is evenly distributed.</a:t>
            </a:r>
          </a:p>
          <a:p>
            <a:pPr marL="457200" indent="-45720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Char char="•"/>
            </a:pPr>
            <a:r>
              <a:rPr sz="3600" b="0" dirty="0"/>
              <a:t>MSE: large fluctuation in visitation.</a:t>
            </a:r>
          </a:p>
        </p:txBody>
      </p:sp>
      <p:pic>
        <p:nvPicPr>
          <p:cNvPr id="240" name="mw_heatmap_action_noise.png" descr="mw_heatmap_action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924" y="-1"/>
            <a:ext cx="13487401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From Miniworld to MiniGri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From Miniworld to MiniGrid</a:t>
            </a:r>
          </a:p>
        </p:txBody>
      </p:sp>
      <p:sp>
        <p:nvSpPr>
          <p:cNvPr id="243" name="How does LPM and other intrinsic reward method perform in sparse-reward environment?…"/>
          <p:cNvSpPr txBox="1">
            <a:spLocks noGrp="1"/>
          </p:cNvSpPr>
          <p:nvPr>
            <p:ph type="body" idx="1"/>
          </p:nvPr>
        </p:nvSpPr>
        <p:spPr>
          <a:xfrm>
            <a:off x="989241" y="2729994"/>
            <a:ext cx="22478473" cy="8256012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200"/>
            </a:pPr>
            <a:r>
              <a:rPr sz="3600" b="0" dirty="0">
                <a:sym typeface="Helvetica Neue"/>
              </a:rPr>
              <a:t>How does LPM and other intrinsic reward method</a:t>
            </a:r>
            <a:r>
              <a:rPr lang="en-GB" sz="3600" b="0" dirty="0">
                <a:sym typeface="Helvetica Neue"/>
              </a:rPr>
              <a:t>s</a:t>
            </a:r>
            <a:r>
              <a:rPr sz="3600" b="0" dirty="0">
                <a:sym typeface="Helvetica Neue"/>
              </a:rPr>
              <a:t> perform in sparse-reward environment?</a:t>
            </a:r>
          </a:p>
          <a:p>
            <a:pPr marL="457200" indent="-45720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200"/>
            </a:pPr>
            <a:r>
              <a:rPr sz="3600" b="0" dirty="0" err="1">
                <a:sym typeface="Helvetica Neue"/>
              </a:rPr>
              <a:t>MiniGrid</a:t>
            </a:r>
            <a:r>
              <a:rPr sz="3600" b="0" dirty="0">
                <a:sym typeface="Helvetica Neue"/>
              </a:rPr>
              <a:t>: navigating the agent through a 2D symbolic maze with key and doors. Limited observation.</a:t>
            </a:r>
          </a:p>
          <a:p>
            <a:pPr marL="457200" indent="-45720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200"/>
            </a:pPr>
            <a:r>
              <a:rPr sz="3600" b="0" dirty="0">
                <a:sym typeface="Helvetica Neue"/>
              </a:rPr>
              <a:t>Observation: 7*7*3, Action: 7</a:t>
            </a:r>
          </a:p>
          <a:p>
            <a:pPr marL="457200" indent="-45720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200"/>
            </a:pPr>
            <a:r>
              <a:rPr sz="3600" b="0" dirty="0">
                <a:sym typeface="Helvetica Neue"/>
              </a:rPr>
              <a:t>PPO Algorithm, MLP, None/Entropy/RND/LPM</a:t>
            </a:r>
            <a:r>
              <a:rPr lang="en-GB" sz="3600" b="0" dirty="0">
                <a:sym typeface="Helvetica Neue"/>
              </a:rPr>
              <a:t>/ICM, with/without Noise</a:t>
            </a:r>
            <a:endParaRPr sz="3600" b="0" dirty="0">
              <a:sym typeface="Helvetica Neue"/>
            </a:endParaRPr>
          </a:p>
        </p:txBody>
      </p:sp>
      <p:pic>
        <p:nvPicPr>
          <p:cNvPr id="244" name="final.gif" descr="final.gif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8729" y="7550776"/>
            <a:ext cx="6557194" cy="3552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final.gif" descr="final.gif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700833" y="7550776"/>
            <a:ext cx="6557305" cy="355272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final.gif" descr="final.gif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6682426" y="7550776"/>
            <a:ext cx="6557194" cy="3552660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Easy: DoorKey"/>
          <p:cNvSpPr txBox="1"/>
          <p:nvPr/>
        </p:nvSpPr>
        <p:spPr>
          <a:xfrm>
            <a:off x="916285" y="6357229"/>
            <a:ext cx="6639638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sz="4800" dirty="0"/>
              <a:t>Easy: </a:t>
            </a:r>
            <a:r>
              <a:rPr sz="4800" dirty="0" err="1"/>
              <a:t>DoorKey</a:t>
            </a:r>
            <a:r>
              <a:rPr lang="en-GB" sz="4800" dirty="0"/>
              <a:t> </a:t>
            </a:r>
            <a:r>
              <a:rPr lang="en-GB" sz="3600" dirty="0"/>
              <a:t>(1M Steps)</a:t>
            </a:r>
            <a:endParaRPr sz="3600" dirty="0"/>
          </a:p>
        </p:txBody>
      </p:sp>
      <p:sp>
        <p:nvSpPr>
          <p:cNvPr id="248" name="Medium: FourRooms"/>
          <p:cNvSpPr txBox="1"/>
          <p:nvPr/>
        </p:nvSpPr>
        <p:spPr>
          <a:xfrm>
            <a:off x="8700833" y="6496810"/>
            <a:ext cx="6795130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sz="4000" dirty="0"/>
              <a:t>Medium: </a:t>
            </a:r>
            <a:r>
              <a:rPr sz="4000" dirty="0" err="1"/>
              <a:t>FourRooms</a:t>
            </a:r>
            <a:r>
              <a:rPr lang="en-GB" sz="4000" dirty="0"/>
              <a:t> </a:t>
            </a:r>
            <a:r>
              <a:rPr lang="en-GB" sz="2400" dirty="0"/>
              <a:t>(2M Steps)</a:t>
            </a:r>
            <a:endParaRPr sz="4000" dirty="0"/>
          </a:p>
        </p:txBody>
      </p:sp>
      <p:sp>
        <p:nvSpPr>
          <p:cNvPr id="249" name="Hard: MultiRoom"/>
          <p:cNvSpPr txBox="1"/>
          <p:nvPr/>
        </p:nvSpPr>
        <p:spPr>
          <a:xfrm>
            <a:off x="16682426" y="6486495"/>
            <a:ext cx="5998437" cy="711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sz="4400" dirty="0"/>
              <a:t>Hard: </a:t>
            </a:r>
            <a:r>
              <a:rPr sz="4400" dirty="0" err="1"/>
              <a:t>MultiRoom</a:t>
            </a:r>
            <a:r>
              <a:rPr lang="en-GB" sz="4400" dirty="0"/>
              <a:t> </a:t>
            </a:r>
            <a:r>
              <a:rPr lang="en-GB" sz="2400" dirty="0"/>
              <a:t>(3M Steps)</a:t>
            </a:r>
            <a:endParaRPr sz="4400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Matrix Experiments"/>
          <p:cNvSpPr txBox="1">
            <a:spLocks noGrp="1"/>
          </p:cNvSpPr>
          <p:nvPr>
            <p:ph type="title"/>
          </p:nvPr>
        </p:nvSpPr>
        <p:spPr>
          <a:xfrm>
            <a:off x="1248000" y="406295"/>
            <a:ext cx="20160000" cy="1248000"/>
          </a:xfrm>
          <a:prstGeom prst="rect">
            <a:avLst/>
          </a:prstGeom>
        </p:spPr>
        <p:txBody>
          <a:bodyPr/>
          <a:lstStyle/>
          <a:p>
            <a:r>
              <a:rPr dirty="0"/>
              <a:t>Matrix Experiments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4226C7-4D5E-03C6-2197-C667085B1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79" y="4665390"/>
            <a:ext cx="23425484" cy="7301531"/>
          </a:xfrm>
          <a:prstGeom prst="rect">
            <a:avLst/>
          </a:prstGeom>
        </p:spPr>
      </p:pic>
      <p:sp>
        <p:nvSpPr>
          <p:cNvPr id="7" name="How does LPM and other intrinsic reward method perform in sparse-reward environment?…">
            <a:extLst>
              <a:ext uri="{FF2B5EF4-FFF2-40B4-BE49-F238E27FC236}">
                <a16:creationId xmlns:a16="http://schemas.microsoft.com/office/drawing/2014/main" id="{57601957-1E4B-F3CE-4CD1-632B8DCD1776}"/>
              </a:ext>
            </a:extLst>
          </p:cNvPr>
          <p:cNvSpPr txBox="1">
            <a:spLocks/>
          </p:cNvSpPr>
          <p:nvPr/>
        </p:nvSpPr>
        <p:spPr>
          <a:xfrm>
            <a:off x="1206500" y="1839269"/>
            <a:ext cx="22698242" cy="3745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457200" indent="-457200" defTabSz="1828823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SzPct val="75000"/>
              <a:buFont typeface="Arial" panose="020B0604020202020204" pitchFamily="34" charset="0"/>
              <a:buChar char="•"/>
              <a:defRPr sz="3200"/>
            </a:pPr>
            <a:r>
              <a:rPr lang="fr-FR" sz="3600" dirty="0">
                <a:solidFill>
                  <a:schemeClr val="tx2"/>
                </a:solidFill>
              </a:rPr>
              <a:t>All exploration </a:t>
            </a:r>
            <a:r>
              <a:rPr lang="fr-FR" sz="3600" dirty="0" err="1">
                <a:solidFill>
                  <a:schemeClr val="tx2"/>
                </a:solidFill>
              </a:rPr>
              <a:t>algorithms</a:t>
            </a:r>
            <a:r>
              <a:rPr lang="fr-FR" sz="3600" dirty="0">
                <a:solidFill>
                  <a:schemeClr val="tx2"/>
                </a:solidFill>
              </a:rPr>
              <a:t> </a:t>
            </a:r>
            <a:r>
              <a:rPr lang="fr-FR" sz="3600" dirty="0" err="1">
                <a:solidFill>
                  <a:schemeClr val="tx2"/>
                </a:solidFill>
              </a:rPr>
              <a:t>saturate</a:t>
            </a:r>
            <a:r>
              <a:rPr lang="fr-FR" sz="3600" dirty="0">
                <a:solidFill>
                  <a:schemeClr val="tx2"/>
                </a:solidFill>
              </a:rPr>
              <a:t> </a:t>
            </a:r>
            <a:r>
              <a:rPr lang="fr-FR" sz="3600" dirty="0" err="1">
                <a:solidFill>
                  <a:schemeClr val="tx2"/>
                </a:solidFill>
              </a:rPr>
              <a:t>early</a:t>
            </a:r>
            <a:r>
              <a:rPr lang="fr-FR" sz="3600" dirty="0">
                <a:solidFill>
                  <a:schemeClr val="tx2"/>
                </a:solidFill>
              </a:rPr>
              <a:t> for </a:t>
            </a:r>
            <a:r>
              <a:rPr lang="fr-FR" sz="3600" dirty="0" err="1">
                <a:solidFill>
                  <a:schemeClr val="tx2"/>
                </a:solidFill>
              </a:rPr>
              <a:t>DoorKey</a:t>
            </a:r>
            <a:r>
              <a:rPr lang="fr-FR" sz="3600" dirty="0">
                <a:solidFill>
                  <a:schemeClr val="tx2"/>
                </a:solidFill>
              </a:rPr>
              <a:t> </a:t>
            </a:r>
            <a:r>
              <a:rPr lang="fr-FR" sz="3600" dirty="0" err="1">
                <a:solidFill>
                  <a:schemeClr val="tx2"/>
                </a:solidFill>
              </a:rPr>
              <a:t>env</a:t>
            </a:r>
            <a:endParaRPr lang="fr-FR" sz="3600" dirty="0">
              <a:solidFill>
                <a:schemeClr val="tx2"/>
              </a:solidFill>
            </a:endParaRPr>
          </a:p>
          <a:p>
            <a:pPr marL="457200" indent="-457200" defTabSz="1828823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SzPct val="75000"/>
              <a:buFont typeface="Arial" panose="020B0604020202020204" pitchFamily="34" charset="0"/>
              <a:buChar char="•"/>
              <a:defRPr sz="3200"/>
            </a:pPr>
            <a:r>
              <a:rPr lang="fr-FR" sz="3600" dirty="0">
                <a:solidFill>
                  <a:schemeClr val="tx2"/>
                </a:solidFill>
              </a:rPr>
              <a:t>For </a:t>
            </a:r>
            <a:r>
              <a:rPr lang="fr-FR" sz="3600" dirty="0" err="1">
                <a:solidFill>
                  <a:schemeClr val="tx2"/>
                </a:solidFill>
              </a:rPr>
              <a:t>FourRooms</a:t>
            </a:r>
            <a:r>
              <a:rPr lang="fr-FR" sz="3600" dirty="0">
                <a:solidFill>
                  <a:schemeClr val="tx2"/>
                </a:solidFill>
              </a:rPr>
              <a:t>, exploration </a:t>
            </a:r>
            <a:r>
              <a:rPr lang="fr-FR" sz="3600" dirty="0" err="1">
                <a:solidFill>
                  <a:schemeClr val="tx2"/>
                </a:solidFill>
              </a:rPr>
              <a:t>algorithms</a:t>
            </a:r>
            <a:r>
              <a:rPr lang="fr-FR" sz="3600" dirty="0">
                <a:solidFill>
                  <a:schemeClr val="tx2"/>
                </a:solidFill>
              </a:rPr>
              <a:t> </a:t>
            </a:r>
            <a:r>
              <a:rPr lang="fr-FR" sz="3600" dirty="0" err="1">
                <a:solidFill>
                  <a:schemeClr val="tx2"/>
                </a:solidFill>
              </a:rPr>
              <a:t>keep</a:t>
            </a:r>
            <a:r>
              <a:rPr lang="fr-FR" sz="3600" dirty="0">
                <a:solidFill>
                  <a:schemeClr val="tx2"/>
                </a:solidFill>
              </a:rPr>
              <a:t> </a:t>
            </a:r>
            <a:r>
              <a:rPr lang="fr-FR" sz="3600" dirty="0" err="1">
                <a:solidFill>
                  <a:schemeClr val="tx2"/>
                </a:solidFill>
              </a:rPr>
              <a:t>improving</a:t>
            </a:r>
            <a:r>
              <a:rPr lang="fr-FR" sz="3600" dirty="0">
                <a:solidFill>
                  <a:schemeClr val="tx2"/>
                </a:solidFill>
              </a:rPr>
              <a:t> and stick </a:t>
            </a:r>
            <a:r>
              <a:rPr lang="fr-FR" sz="3600" dirty="0" err="1">
                <a:solidFill>
                  <a:schemeClr val="tx2"/>
                </a:solidFill>
              </a:rPr>
              <a:t>together</a:t>
            </a:r>
            <a:r>
              <a:rPr lang="fr-FR" sz="3600" dirty="0">
                <a:solidFill>
                  <a:schemeClr val="tx2"/>
                </a:solidFill>
              </a:rPr>
              <a:t> </a:t>
            </a:r>
            <a:r>
              <a:rPr lang="fr-FR" sz="3600" dirty="0" err="1">
                <a:solidFill>
                  <a:schemeClr val="tx2"/>
                </a:solidFill>
              </a:rPr>
              <a:t>except</a:t>
            </a:r>
            <a:r>
              <a:rPr lang="fr-FR" sz="3600" dirty="0">
                <a:solidFill>
                  <a:schemeClr val="tx2"/>
                </a:solidFill>
              </a:rPr>
              <a:t> ICM, </a:t>
            </a:r>
            <a:r>
              <a:rPr lang="fr-FR" sz="3600" dirty="0" err="1">
                <a:solidFill>
                  <a:schemeClr val="tx2"/>
                </a:solidFill>
              </a:rPr>
              <a:t>which</a:t>
            </a:r>
            <a:r>
              <a:rPr lang="fr-FR" sz="3600" dirty="0">
                <a:solidFill>
                  <a:schemeClr val="tx2"/>
                </a:solidFill>
              </a:rPr>
              <a:t> </a:t>
            </a:r>
            <a:r>
              <a:rPr lang="fr-FR" sz="3600" dirty="0" err="1">
                <a:solidFill>
                  <a:schemeClr val="tx2"/>
                </a:solidFill>
              </a:rPr>
              <a:t>is</a:t>
            </a:r>
            <a:r>
              <a:rPr lang="fr-FR" sz="3600" dirty="0">
                <a:solidFill>
                  <a:schemeClr val="tx2"/>
                </a:solidFill>
              </a:rPr>
              <a:t> </a:t>
            </a:r>
            <a:br>
              <a:rPr lang="fr-FR" sz="3600" dirty="0">
                <a:solidFill>
                  <a:schemeClr val="tx2"/>
                </a:solidFill>
              </a:rPr>
            </a:br>
            <a:br>
              <a:rPr lang="fr-FR" sz="3600" dirty="0">
                <a:solidFill>
                  <a:schemeClr val="tx2"/>
                </a:solidFill>
              </a:rPr>
            </a:br>
            <a:r>
              <a:rPr lang="fr-FR" sz="3600" dirty="0" err="1">
                <a:solidFill>
                  <a:schemeClr val="tx2"/>
                </a:solidFill>
              </a:rPr>
              <a:t>significantly</a:t>
            </a:r>
            <a:r>
              <a:rPr lang="fr-FR" sz="3600" dirty="0">
                <a:solidFill>
                  <a:schemeClr val="tx2"/>
                </a:solidFill>
              </a:rPr>
              <a:t> </a:t>
            </a:r>
            <a:r>
              <a:rPr lang="fr-FR" sz="3600" dirty="0" err="1">
                <a:solidFill>
                  <a:schemeClr val="tx2"/>
                </a:solidFill>
              </a:rPr>
              <a:t>worse</a:t>
            </a:r>
            <a:r>
              <a:rPr lang="fr-FR" sz="3600" dirty="0">
                <a:solidFill>
                  <a:schemeClr val="tx2"/>
                </a:solidFill>
              </a:rPr>
              <a:t>.</a:t>
            </a:r>
          </a:p>
          <a:p>
            <a:pPr marL="457200" indent="-457200" defTabSz="1828823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SzPct val="75000"/>
              <a:buFont typeface="Arial" panose="020B0604020202020204" pitchFamily="34" charset="0"/>
              <a:buChar char="•"/>
              <a:defRPr sz="3200"/>
            </a:pPr>
            <a:r>
              <a:rPr lang="fr-FR" sz="3600" dirty="0">
                <a:solidFill>
                  <a:schemeClr val="tx2"/>
                </a:solidFill>
              </a:rPr>
              <a:t>The </a:t>
            </a:r>
            <a:r>
              <a:rPr lang="fr-FR" sz="3600" dirty="0" err="1">
                <a:solidFill>
                  <a:schemeClr val="tx2"/>
                </a:solidFill>
              </a:rPr>
              <a:t>current</a:t>
            </a:r>
            <a:r>
              <a:rPr lang="fr-FR" sz="3600" dirty="0">
                <a:solidFill>
                  <a:schemeClr val="tx2"/>
                </a:solidFill>
              </a:rPr>
              <a:t> configuration fails to solve </a:t>
            </a:r>
            <a:r>
              <a:rPr lang="fr-FR" sz="3600" dirty="0" err="1">
                <a:solidFill>
                  <a:schemeClr val="tx2"/>
                </a:solidFill>
              </a:rPr>
              <a:t>MultiRoom</a:t>
            </a:r>
            <a:endParaRPr lang="fr-FR" sz="3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Adding Observation Noi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Adding Observation Noise</a:t>
            </a:r>
          </a:p>
        </p:txBody>
      </p:sp>
      <p:sp>
        <p:nvSpPr>
          <p:cNvPr id="256" name="Randomly flip the observation state with certain probability.…"/>
          <p:cNvSpPr txBox="1">
            <a:spLocks noGrp="1"/>
          </p:cNvSpPr>
          <p:nvPr>
            <p:ph type="body" idx="1"/>
          </p:nvPr>
        </p:nvSpPr>
        <p:spPr>
          <a:xfrm>
            <a:off x="1206500" y="3284371"/>
            <a:ext cx="21971000" cy="8256012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200"/>
            </a:pPr>
            <a:r>
              <a:rPr sz="3600" b="0" dirty="0"/>
              <a:t>Randomly flip the observation state with certain probability.</a:t>
            </a:r>
            <a:endParaRPr lang="en-GB" sz="3600" b="0" dirty="0"/>
          </a:p>
          <a:p>
            <a:pPr marL="457200" indent="-45720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200"/>
            </a:pPr>
            <a:r>
              <a:rPr lang="fr-FR" sz="3600" b="0" dirty="0"/>
              <a:t>Observation noise </a:t>
            </a:r>
            <a:r>
              <a:rPr lang="fr-FR" sz="3600" b="0" dirty="0" err="1"/>
              <a:t>decreases</a:t>
            </a:r>
            <a:r>
              <a:rPr lang="fr-FR" sz="3600" b="0" dirty="0"/>
              <a:t> the final performance.</a:t>
            </a:r>
            <a:endParaRPr sz="3600" b="0" dirty="0"/>
          </a:p>
          <a:p>
            <a:pPr marL="457200" indent="-45720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200"/>
            </a:pPr>
            <a:r>
              <a:rPr lang="en-GB" sz="3600" b="0" dirty="0"/>
              <a:t>LPM is slightly better than other exploration algorithms.</a:t>
            </a:r>
          </a:p>
          <a:p>
            <a:pPr marL="0" indent="0">
              <a:buNone/>
              <a:defRPr sz="3200"/>
            </a:pPr>
            <a:endParaRPr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C1B3D-A0C6-F4C5-42AA-DF3974AD7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680" y="4754880"/>
            <a:ext cx="11541420" cy="70940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F8BFBD-C853-FA2A-5E10-1B7AF2999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984" y="6761331"/>
            <a:ext cx="7983855" cy="43256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ummary and Though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/>
              <a:t>Summary and Thoughts</a:t>
            </a:r>
          </a:p>
        </p:txBody>
      </p:sp>
      <p:sp>
        <p:nvSpPr>
          <p:cNvPr id="261" name="LPM shows robustness against noise action, but this property is not generic. Conjecture: MSE, ICM and LPM does not work for POMDP (without memory).…"/>
          <p:cNvSpPr txBox="1">
            <a:spLocks noGrp="1"/>
          </p:cNvSpPr>
          <p:nvPr>
            <p:ph type="body" idx="1"/>
          </p:nvPr>
        </p:nvSpPr>
        <p:spPr>
          <a:xfrm>
            <a:off x="1069340" y="2473530"/>
            <a:ext cx="21971000" cy="9639777"/>
          </a:xfrm>
          <a:prstGeom prst="rect">
            <a:avLst/>
          </a:prstGeom>
        </p:spPr>
        <p:txBody>
          <a:bodyPr/>
          <a:lstStyle/>
          <a:p>
            <a:pPr marL="609599" indent="-609599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600"/>
            </a:pPr>
            <a:endParaRPr lang="en-US" dirty="0"/>
          </a:p>
          <a:p>
            <a:pPr marL="609599" indent="-609599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600"/>
            </a:pPr>
            <a:r>
              <a:rPr lang="en-US" b="0" dirty="0"/>
              <a:t>Experiments:</a:t>
            </a:r>
          </a:p>
          <a:p>
            <a:pPr lvl="4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defRPr sz="3600"/>
            </a:pPr>
            <a:r>
              <a:rPr lang="en-US" dirty="0"/>
              <a:t>Action-noise rate ✓                         Coverage-rate ???                           </a:t>
            </a:r>
            <a:r>
              <a:rPr lang="en-US" dirty="0" err="1"/>
              <a:t>Minigrid</a:t>
            </a:r>
            <a:r>
              <a:rPr lang="en-US" dirty="0"/>
              <a:t> extension 🔍︎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609599" indent="-609599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600"/>
            </a:pPr>
            <a:r>
              <a:rPr lang="en-US" b="0" dirty="0"/>
              <a:t>LPM shows robustness against noise action, but this property is not generic.</a:t>
            </a:r>
            <a:br>
              <a:rPr lang="en-US" b="0" dirty="0"/>
            </a:br>
            <a:br>
              <a:rPr lang="en-US" b="0" dirty="0"/>
            </a:br>
            <a:r>
              <a:rPr lang="en-US" b="0" dirty="0"/>
              <a:t>Conjecture: MSE, ICM and LPM does not work for POMDP (without memory).</a:t>
            </a:r>
          </a:p>
          <a:p>
            <a:pPr marL="609599" indent="-609599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600"/>
            </a:pPr>
            <a:r>
              <a:rPr lang="en-US" b="0" dirty="0"/>
              <a:t>About noisy-TV: somewhat artificial. What count as states and what are observations? Strong priori.</a:t>
            </a:r>
          </a:p>
          <a:p>
            <a:pPr marL="609599" indent="-609599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600"/>
            </a:pPr>
            <a:r>
              <a:rPr lang="en-US" b="0" dirty="0"/>
              <a:t>Control-variable experiments for RL are really </a:t>
            </a:r>
            <a:r>
              <a:rPr lang="en-US" b="0" dirty="0" err="1"/>
              <a:t>really</a:t>
            </a:r>
            <a:r>
              <a:rPr lang="en-US" b="0" dirty="0"/>
              <a:t> hard.</a:t>
            </a:r>
          </a:p>
          <a:p>
            <a:pPr marL="609599" indent="-609599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600"/>
            </a:pPr>
            <a:r>
              <a:rPr lang="en-US" b="0" dirty="0"/>
              <a:t>What is a good metric for pure exploration? Coverage rate is a controversial one. Diffusion easily wins.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451F7-BF04-8F1F-8B51-F3D31B56D032}"/>
              </a:ext>
            </a:extLst>
          </p:cNvPr>
          <p:cNvSpPr txBox="1">
            <a:spLocks/>
          </p:cNvSpPr>
          <p:nvPr/>
        </p:nvSpPr>
        <p:spPr>
          <a:xfrm>
            <a:off x="780582" y="10680144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GB" dirty="0"/>
              <a:t>Questions?</a:t>
            </a:r>
            <a:endParaRPr lang="LID4096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RUB_03a.potx" id="{C867D821-36E8-4CDA-B68D-4949E463F39D}" vid="{F84F8B3F-9528-42A9-B5AE-3004D5414502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RUB-Pra╠êsentation-16zu9</Template>
  <TotalTime>219</TotalTime>
  <Words>801</Words>
  <Application>Microsoft Office PowerPoint</Application>
  <PresentationFormat>Custom</PresentationFormat>
  <Paragraphs>98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Helvetica Neue</vt:lpstr>
      <vt:lpstr>Wingdings</vt:lpstr>
      <vt:lpstr>PowerPoint Master RUB</vt:lpstr>
      <vt:lpstr>Exploration vs. Exploitation: An Exploration</vt:lpstr>
      <vt:lpstr>Ordering in the restaurant …</vt:lpstr>
      <vt:lpstr>Why Exploration</vt:lpstr>
      <vt:lpstr>Methods for Exploration</vt:lpstr>
      <vt:lpstr>MSE, ICM and RND</vt:lpstr>
      <vt:lpstr>MiniWorld</vt:lpstr>
      <vt:lpstr>The noisy-TV Problem</vt:lpstr>
      <vt:lpstr>LPM: Learning Progress Monitoring</vt:lpstr>
      <vt:lpstr>MiniWorld Experiment Setup</vt:lpstr>
      <vt:lpstr>Action Noise Rate</vt:lpstr>
      <vt:lpstr>Coverage Rate</vt:lpstr>
      <vt:lpstr>Exploration Heat Map</vt:lpstr>
      <vt:lpstr>From Miniworld to MiniGrid</vt:lpstr>
      <vt:lpstr>Matrix Experiments</vt:lpstr>
      <vt:lpstr>Adding Observation Noise</vt:lpstr>
      <vt:lpstr>Summary and Thoughts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Youssef Gharbi</dc:creator>
  <cp:lastModifiedBy>Gharbi, Youssef</cp:lastModifiedBy>
  <cp:revision>16</cp:revision>
  <dcterms:modified xsi:type="dcterms:W3CDTF">2026-07-14T21:57:06Z</dcterms:modified>
</cp:coreProperties>
</file>